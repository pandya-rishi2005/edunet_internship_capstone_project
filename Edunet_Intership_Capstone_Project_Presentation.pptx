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 id="260" r:id="rId6"/>
    <p:sldId id="261" r:id="rId7"/>
    <p:sldId id="262" r:id="rId8"/>
    <p:sldId id="263" r:id="rId9"/>
    <p:sldId id="264" r:id="rId10"/>
    <p:sldId id="268" r:id="rId11"/>
    <p:sldId id="265" r:id="rId12"/>
    <p:sldId id="266" r:id="rId13"/>
    <p:sldId id="267" r:id="rId14"/>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5" d="100"/>
          <a:sy n="75" d="100"/>
        </p:scale>
        <p:origin x="874" y="48"/>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sz="2000" b="1" i="0">
                <a:solidFill>
                  <a:srgbClr val="203062"/>
                </a:solidFill>
                <a:latin typeface="Arial"/>
                <a:cs typeface="Arial"/>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7/16/2026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000" b="1" i="0">
                <a:solidFill>
                  <a:srgbClr val="203062"/>
                </a:solidFill>
                <a:latin typeface="Arial"/>
                <a:cs typeface="Arial"/>
              </a:defRPr>
            </a:lvl1pPr>
          </a:lstStyle>
          <a:p>
            <a:endParaRPr/>
          </a:p>
        </p:txBody>
      </p:sp>
      <p:sp>
        <p:nvSpPr>
          <p:cNvPr id="3" name="Holder 3"/>
          <p:cNvSpPr>
            <a:spLocks noGrp="1"/>
          </p:cNvSpPr>
          <p:nvPr>
            <p:ph type="body" idx="1"/>
          </p:nvPr>
        </p:nvSpPr>
        <p:spPr/>
        <p:txBody>
          <a:bodyPr lIns="0" tIns="0" rIns="0" bIns="0"/>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7/16/2026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000" b="1" i="0">
                <a:solidFill>
                  <a:srgbClr val="203062"/>
                </a:solidFill>
                <a:latin typeface="Arial"/>
                <a:cs typeface="Arial"/>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7/16/2026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000" b="1" i="0">
                <a:solidFill>
                  <a:srgbClr val="203062"/>
                </a:solidFill>
                <a:latin typeface="Arial"/>
                <a:cs typeface="Arial"/>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7/16/2026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7/16/2026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7" cstate="print"/>
          <a:stretch>
            <a:fillRect/>
          </a:stretch>
        </p:blipFill>
        <p:spPr>
          <a:xfrm>
            <a:off x="10141335" y="137882"/>
            <a:ext cx="1658222" cy="460410"/>
          </a:xfrm>
          <a:prstGeom prst="rect">
            <a:avLst/>
          </a:prstGeom>
        </p:spPr>
      </p:pic>
      <p:sp>
        <p:nvSpPr>
          <p:cNvPr id="17" name="bg object 17"/>
          <p:cNvSpPr/>
          <p:nvPr/>
        </p:nvSpPr>
        <p:spPr>
          <a:xfrm>
            <a:off x="0" y="50"/>
            <a:ext cx="9829800" cy="718185"/>
          </a:xfrm>
          <a:custGeom>
            <a:avLst/>
            <a:gdLst/>
            <a:ahLst/>
            <a:cxnLst/>
            <a:rect l="l" t="t" r="r" b="b"/>
            <a:pathLst>
              <a:path w="9829800" h="718185">
                <a:moveTo>
                  <a:pt x="9829800" y="0"/>
                </a:moveTo>
                <a:lnTo>
                  <a:pt x="0" y="0"/>
                </a:lnTo>
                <a:lnTo>
                  <a:pt x="0" y="717626"/>
                </a:lnTo>
                <a:lnTo>
                  <a:pt x="9829800" y="717626"/>
                </a:lnTo>
                <a:lnTo>
                  <a:pt x="9829800" y="0"/>
                </a:lnTo>
                <a:close/>
              </a:path>
            </a:pathLst>
          </a:custGeom>
          <a:solidFill>
            <a:srgbClr val="203163"/>
          </a:solidFill>
        </p:spPr>
        <p:txBody>
          <a:bodyPr wrap="square" lIns="0" tIns="0" rIns="0" bIns="0" rtlCol="0"/>
          <a:lstStyle/>
          <a:p>
            <a:endParaRPr/>
          </a:p>
        </p:txBody>
      </p:sp>
      <p:sp>
        <p:nvSpPr>
          <p:cNvPr id="18" name="bg object 18"/>
          <p:cNvSpPr/>
          <p:nvPr/>
        </p:nvSpPr>
        <p:spPr>
          <a:xfrm>
            <a:off x="0" y="50"/>
            <a:ext cx="9829800" cy="718185"/>
          </a:xfrm>
          <a:custGeom>
            <a:avLst/>
            <a:gdLst/>
            <a:ahLst/>
            <a:cxnLst/>
            <a:rect l="l" t="t" r="r" b="b"/>
            <a:pathLst>
              <a:path w="9829800" h="718185">
                <a:moveTo>
                  <a:pt x="0" y="717626"/>
                </a:moveTo>
                <a:lnTo>
                  <a:pt x="9829800" y="717626"/>
                </a:lnTo>
                <a:lnTo>
                  <a:pt x="9829800" y="0"/>
                </a:lnTo>
                <a:lnTo>
                  <a:pt x="0" y="0"/>
                </a:lnTo>
                <a:lnTo>
                  <a:pt x="0" y="717626"/>
                </a:lnTo>
                <a:close/>
              </a:path>
            </a:pathLst>
          </a:custGeom>
          <a:ln w="25400">
            <a:solidFill>
              <a:srgbClr val="203163"/>
            </a:solidFill>
          </a:ln>
        </p:spPr>
        <p:txBody>
          <a:bodyPr wrap="square" lIns="0" tIns="0" rIns="0" bIns="0" rtlCol="0"/>
          <a:lstStyle/>
          <a:p>
            <a:endParaRPr/>
          </a:p>
        </p:txBody>
      </p:sp>
      <p:sp>
        <p:nvSpPr>
          <p:cNvPr id="19" name="bg object 19"/>
          <p:cNvSpPr/>
          <p:nvPr/>
        </p:nvSpPr>
        <p:spPr>
          <a:xfrm>
            <a:off x="9888981" y="-457"/>
            <a:ext cx="112395" cy="732790"/>
          </a:xfrm>
          <a:custGeom>
            <a:avLst/>
            <a:gdLst/>
            <a:ahLst/>
            <a:cxnLst/>
            <a:rect l="l" t="t" r="r" b="b"/>
            <a:pathLst>
              <a:path w="112395" h="732790">
                <a:moveTo>
                  <a:pt x="112283" y="0"/>
                </a:moveTo>
                <a:lnTo>
                  <a:pt x="0" y="0"/>
                </a:lnTo>
                <a:lnTo>
                  <a:pt x="0" y="732358"/>
                </a:lnTo>
                <a:lnTo>
                  <a:pt x="112283" y="732358"/>
                </a:lnTo>
                <a:lnTo>
                  <a:pt x="112283" y="0"/>
                </a:lnTo>
                <a:close/>
              </a:path>
            </a:pathLst>
          </a:custGeom>
          <a:solidFill>
            <a:srgbClr val="7EB900"/>
          </a:solidFill>
        </p:spPr>
        <p:txBody>
          <a:bodyPr wrap="square" lIns="0" tIns="0" rIns="0" bIns="0" rtlCol="0"/>
          <a:lstStyle/>
          <a:p>
            <a:endParaRPr/>
          </a:p>
        </p:txBody>
      </p:sp>
      <p:pic>
        <p:nvPicPr>
          <p:cNvPr id="20" name="bg object 20"/>
          <p:cNvPicPr/>
          <p:nvPr/>
        </p:nvPicPr>
        <p:blipFill>
          <a:blip r:embed="rId8" cstate="print"/>
          <a:stretch>
            <a:fillRect/>
          </a:stretch>
        </p:blipFill>
        <p:spPr>
          <a:xfrm>
            <a:off x="0" y="38"/>
            <a:ext cx="9839324" cy="723734"/>
          </a:xfrm>
          <a:prstGeom prst="rect">
            <a:avLst/>
          </a:prstGeom>
        </p:spPr>
      </p:pic>
      <p:sp>
        <p:nvSpPr>
          <p:cNvPr id="21" name="bg object 21"/>
          <p:cNvSpPr/>
          <p:nvPr/>
        </p:nvSpPr>
        <p:spPr>
          <a:xfrm>
            <a:off x="11925300" y="-457"/>
            <a:ext cx="266700" cy="732790"/>
          </a:xfrm>
          <a:custGeom>
            <a:avLst/>
            <a:gdLst/>
            <a:ahLst/>
            <a:cxnLst/>
            <a:rect l="l" t="t" r="r" b="b"/>
            <a:pathLst>
              <a:path w="266700" h="732790">
                <a:moveTo>
                  <a:pt x="266700" y="0"/>
                </a:moveTo>
                <a:lnTo>
                  <a:pt x="0" y="0"/>
                </a:lnTo>
                <a:lnTo>
                  <a:pt x="0" y="732358"/>
                </a:lnTo>
                <a:lnTo>
                  <a:pt x="266700" y="732358"/>
                </a:lnTo>
                <a:lnTo>
                  <a:pt x="266700" y="0"/>
                </a:lnTo>
                <a:close/>
              </a:path>
            </a:pathLst>
          </a:custGeom>
          <a:solidFill>
            <a:srgbClr val="FDD400"/>
          </a:solidFill>
        </p:spPr>
        <p:txBody>
          <a:bodyPr wrap="square" lIns="0" tIns="0" rIns="0" bIns="0" rtlCol="0"/>
          <a:lstStyle/>
          <a:p>
            <a:endParaRPr/>
          </a:p>
        </p:txBody>
      </p:sp>
      <p:sp>
        <p:nvSpPr>
          <p:cNvPr id="2" name="Holder 2"/>
          <p:cNvSpPr>
            <a:spLocks noGrp="1"/>
          </p:cNvSpPr>
          <p:nvPr>
            <p:ph type="title"/>
          </p:nvPr>
        </p:nvSpPr>
        <p:spPr>
          <a:xfrm>
            <a:off x="280822" y="944626"/>
            <a:ext cx="4947285" cy="384555"/>
          </a:xfrm>
          <a:prstGeom prst="rect">
            <a:avLst/>
          </a:prstGeom>
        </p:spPr>
        <p:txBody>
          <a:bodyPr wrap="square" lIns="0" tIns="0" rIns="0" bIns="0">
            <a:spAutoFit/>
          </a:bodyPr>
          <a:lstStyle>
            <a:lvl1pPr>
              <a:defRPr sz="2000" b="1" i="0">
                <a:solidFill>
                  <a:srgbClr val="203062"/>
                </a:solidFill>
                <a:latin typeface="Arial"/>
                <a:cs typeface="Arial"/>
              </a:defRPr>
            </a:lvl1pPr>
          </a:lstStyle>
          <a:p>
            <a:endParaRPr/>
          </a:p>
        </p:txBody>
      </p:sp>
      <p:sp>
        <p:nvSpPr>
          <p:cNvPr id="3" name="Holder 3"/>
          <p:cNvSpPr>
            <a:spLocks noGrp="1"/>
          </p:cNvSpPr>
          <p:nvPr>
            <p:ph type="body" idx="1"/>
          </p:nvPr>
        </p:nvSpPr>
        <p:spPr>
          <a:xfrm>
            <a:off x="609600" y="1577340"/>
            <a:ext cx="1097280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7/16/2026</a:t>
            </a:fld>
            <a:endParaRPr lang="en-US"/>
          </a:p>
        </p:txBody>
      </p:sp>
      <p:sp>
        <p:nvSpPr>
          <p:cNvPr id="6"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hyperlink" Target="https://drive.google.com/file/d/1alaFDsMyod0vxBIcMU9A8aqgwpPnFyqi/view?usp=drivesdk" TargetMode="External"/><Relationship Id="rId2" Type="http://schemas.openxmlformats.org/officeDocument/2006/relationships/hyperlink" Target="https://github.com/PANDYA-RISHI2005/Edunet-Internship"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descr="A person sitting at a desk with a computer  Description automatically generated"/>
          <p:cNvGrpSpPr/>
          <p:nvPr/>
        </p:nvGrpSpPr>
        <p:grpSpPr>
          <a:xfrm>
            <a:off x="-763" y="-177"/>
            <a:ext cx="12192000" cy="6858000"/>
            <a:chOff x="0" y="0"/>
            <a:chExt cx="12192000" cy="6858000"/>
          </a:xfrm>
        </p:grpSpPr>
        <p:pic>
          <p:nvPicPr>
            <p:cNvPr id="3" name="object 3" descr="A person sitting at a desk with a computer  Description automatically generated"/>
            <p:cNvPicPr/>
            <p:nvPr/>
          </p:nvPicPr>
          <p:blipFill>
            <a:blip r:embed="rId2" cstate="print"/>
            <a:stretch>
              <a:fillRect/>
            </a:stretch>
          </p:blipFill>
          <p:spPr>
            <a:xfrm>
              <a:off x="0" y="0"/>
              <a:ext cx="12192000" cy="6858000"/>
            </a:xfrm>
            <a:prstGeom prst="rect">
              <a:avLst/>
            </a:prstGeom>
          </p:spPr>
        </p:pic>
        <p:sp>
          <p:nvSpPr>
            <p:cNvPr id="4" name="object 4"/>
            <p:cNvSpPr/>
            <p:nvPr/>
          </p:nvSpPr>
          <p:spPr>
            <a:xfrm>
              <a:off x="8687561" y="584199"/>
              <a:ext cx="2110740" cy="977900"/>
            </a:xfrm>
            <a:custGeom>
              <a:avLst/>
              <a:gdLst/>
              <a:ahLst/>
              <a:cxnLst/>
              <a:rect l="l" t="t" r="r" b="b"/>
              <a:pathLst>
                <a:path w="2110740" h="977900">
                  <a:moveTo>
                    <a:pt x="1947418" y="0"/>
                  </a:moveTo>
                  <a:lnTo>
                    <a:pt x="162941" y="0"/>
                  </a:lnTo>
                  <a:lnTo>
                    <a:pt x="119606" y="5825"/>
                  </a:lnTo>
                  <a:lnTo>
                    <a:pt x="80677" y="22262"/>
                  </a:lnTo>
                  <a:lnTo>
                    <a:pt x="47704" y="47752"/>
                  </a:lnTo>
                  <a:lnTo>
                    <a:pt x="22234" y="80734"/>
                  </a:lnTo>
                  <a:lnTo>
                    <a:pt x="5816" y="119650"/>
                  </a:lnTo>
                  <a:lnTo>
                    <a:pt x="0" y="162940"/>
                  </a:lnTo>
                  <a:lnTo>
                    <a:pt x="0" y="814959"/>
                  </a:lnTo>
                  <a:lnTo>
                    <a:pt x="5816" y="858249"/>
                  </a:lnTo>
                  <a:lnTo>
                    <a:pt x="22234" y="897165"/>
                  </a:lnTo>
                  <a:lnTo>
                    <a:pt x="47704" y="930148"/>
                  </a:lnTo>
                  <a:lnTo>
                    <a:pt x="80677" y="955637"/>
                  </a:lnTo>
                  <a:lnTo>
                    <a:pt x="119606" y="972074"/>
                  </a:lnTo>
                  <a:lnTo>
                    <a:pt x="162941" y="977900"/>
                  </a:lnTo>
                  <a:lnTo>
                    <a:pt x="1947418" y="977900"/>
                  </a:lnTo>
                  <a:lnTo>
                    <a:pt x="1990762" y="972074"/>
                  </a:lnTo>
                  <a:lnTo>
                    <a:pt x="2029714" y="955637"/>
                  </a:lnTo>
                  <a:lnTo>
                    <a:pt x="2062718" y="930147"/>
                  </a:lnTo>
                  <a:lnTo>
                    <a:pt x="2088218" y="897165"/>
                  </a:lnTo>
                  <a:lnTo>
                    <a:pt x="2104659" y="858249"/>
                  </a:lnTo>
                  <a:lnTo>
                    <a:pt x="2110486" y="814959"/>
                  </a:lnTo>
                  <a:lnTo>
                    <a:pt x="2110486" y="162940"/>
                  </a:lnTo>
                  <a:lnTo>
                    <a:pt x="2104659" y="119650"/>
                  </a:lnTo>
                  <a:lnTo>
                    <a:pt x="2088218" y="80734"/>
                  </a:lnTo>
                  <a:lnTo>
                    <a:pt x="2062718" y="47751"/>
                  </a:lnTo>
                  <a:lnTo>
                    <a:pt x="2029714" y="22262"/>
                  </a:lnTo>
                  <a:lnTo>
                    <a:pt x="1990762" y="5825"/>
                  </a:lnTo>
                  <a:lnTo>
                    <a:pt x="1947418" y="0"/>
                  </a:lnTo>
                  <a:close/>
                </a:path>
              </a:pathLst>
            </a:custGeom>
            <a:solidFill>
              <a:srgbClr val="EBEDF8"/>
            </a:solidFill>
          </p:spPr>
          <p:txBody>
            <a:bodyPr wrap="square" lIns="0" tIns="0" rIns="0" bIns="0" rtlCol="0"/>
            <a:lstStyle/>
            <a:p>
              <a:endParaRPr/>
            </a:p>
          </p:txBody>
        </p:sp>
        <p:sp>
          <p:nvSpPr>
            <p:cNvPr id="5" name="object 5"/>
            <p:cNvSpPr/>
            <p:nvPr/>
          </p:nvSpPr>
          <p:spPr>
            <a:xfrm>
              <a:off x="8687561" y="584199"/>
              <a:ext cx="2110740" cy="977900"/>
            </a:xfrm>
            <a:custGeom>
              <a:avLst/>
              <a:gdLst/>
              <a:ahLst/>
              <a:cxnLst/>
              <a:rect l="l" t="t" r="r" b="b"/>
              <a:pathLst>
                <a:path w="2110740" h="977900">
                  <a:moveTo>
                    <a:pt x="0" y="162940"/>
                  </a:moveTo>
                  <a:lnTo>
                    <a:pt x="5816" y="119650"/>
                  </a:lnTo>
                  <a:lnTo>
                    <a:pt x="22234" y="80734"/>
                  </a:lnTo>
                  <a:lnTo>
                    <a:pt x="47704" y="47752"/>
                  </a:lnTo>
                  <a:lnTo>
                    <a:pt x="80677" y="22262"/>
                  </a:lnTo>
                  <a:lnTo>
                    <a:pt x="119606" y="5825"/>
                  </a:lnTo>
                  <a:lnTo>
                    <a:pt x="162941" y="0"/>
                  </a:lnTo>
                  <a:lnTo>
                    <a:pt x="1947418" y="0"/>
                  </a:lnTo>
                  <a:lnTo>
                    <a:pt x="1990762" y="5825"/>
                  </a:lnTo>
                  <a:lnTo>
                    <a:pt x="2029714" y="22262"/>
                  </a:lnTo>
                  <a:lnTo>
                    <a:pt x="2062718" y="47751"/>
                  </a:lnTo>
                  <a:lnTo>
                    <a:pt x="2088218" y="80734"/>
                  </a:lnTo>
                  <a:lnTo>
                    <a:pt x="2104659" y="119650"/>
                  </a:lnTo>
                  <a:lnTo>
                    <a:pt x="2110486" y="162940"/>
                  </a:lnTo>
                  <a:lnTo>
                    <a:pt x="2110486" y="814959"/>
                  </a:lnTo>
                  <a:lnTo>
                    <a:pt x="2104659" y="858249"/>
                  </a:lnTo>
                  <a:lnTo>
                    <a:pt x="2088218" y="897165"/>
                  </a:lnTo>
                  <a:lnTo>
                    <a:pt x="2062718" y="930147"/>
                  </a:lnTo>
                  <a:lnTo>
                    <a:pt x="2029714" y="955637"/>
                  </a:lnTo>
                  <a:lnTo>
                    <a:pt x="1990762" y="972074"/>
                  </a:lnTo>
                  <a:lnTo>
                    <a:pt x="1947418" y="977900"/>
                  </a:lnTo>
                  <a:lnTo>
                    <a:pt x="162941" y="977900"/>
                  </a:lnTo>
                  <a:lnTo>
                    <a:pt x="119606" y="972074"/>
                  </a:lnTo>
                  <a:lnTo>
                    <a:pt x="80677" y="955637"/>
                  </a:lnTo>
                  <a:lnTo>
                    <a:pt x="47704" y="930148"/>
                  </a:lnTo>
                  <a:lnTo>
                    <a:pt x="22234" y="897165"/>
                  </a:lnTo>
                  <a:lnTo>
                    <a:pt x="5816" y="858249"/>
                  </a:lnTo>
                  <a:lnTo>
                    <a:pt x="0" y="814959"/>
                  </a:lnTo>
                  <a:lnTo>
                    <a:pt x="0" y="162940"/>
                  </a:lnTo>
                  <a:close/>
                </a:path>
              </a:pathLst>
            </a:custGeom>
            <a:ln w="25400">
              <a:solidFill>
                <a:srgbClr val="D9D9D9"/>
              </a:solidFill>
            </a:ln>
          </p:spPr>
          <p:txBody>
            <a:bodyPr wrap="square" lIns="0" tIns="0" rIns="0" bIns="0" rtlCol="0"/>
            <a:lstStyle/>
            <a:p>
              <a:endParaRPr/>
            </a:p>
          </p:txBody>
        </p:sp>
      </p:grpSp>
      <p:sp>
        <p:nvSpPr>
          <p:cNvPr id="6" name="object 6" descr="$PPTXTitle"/>
          <p:cNvSpPr txBox="1">
            <a:spLocks noGrp="1"/>
          </p:cNvSpPr>
          <p:nvPr>
            <p:ph type="title"/>
          </p:nvPr>
        </p:nvSpPr>
        <p:spPr>
          <a:xfrm>
            <a:off x="4442077" y="2028569"/>
            <a:ext cx="6908165" cy="635000"/>
          </a:xfrm>
          <a:prstGeom prst="rect">
            <a:avLst/>
          </a:prstGeom>
        </p:spPr>
        <p:txBody>
          <a:bodyPr vert="horz" wrap="square" lIns="0" tIns="12065" rIns="0" bIns="0" rtlCol="0">
            <a:spAutoFit/>
          </a:bodyPr>
          <a:lstStyle/>
          <a:p>
            <a:pPr marL="12700">
              <a:lnSpc>
                <a:spcPct val="100000"/>
              </a:lnSpc>
              <a:spcBef>
                <a:spcPts val="95"/>
              </a:spcBef>
            </a:pPr>
            <a:r>
              <a:rPr lang="en-US" sz="4000" dirty="0">
                <a:solidFill>
                  <a:srgbClr val="FFFFFF"/>
                </a:solidFill>
              </a:rPr>
              <a:t>Eco-Scan AI</a:t>
            </a:r>
            <a:endParaRPr sz="4000" dirty="0"/>
          </a:p>
        </p:txBody>
      </p:sp>
      <p:pic>
        <p:nvPicPr>
          <p:cNvPr id="7" name="object 7" descr="A close up of a logo  Description automatically generated"/>
          <p:cNvPicPr/>
          <p:nvPr/>
        </p:nvPicPr>
        <p:blipFill>
          <a:blip r:embed="rId3" cstate="print"/>
          <a:stretch>
            <a:fillRect/>
          </a:stretch>
        </p:blipFill>
        <p:spPr>
          <a:xfrm>
            <a:off x="9061957" y="867676"/>
            <a:ext cx="1263154" cy="410832"/>
          </a:xfrm>
          <a:prstGeom prst="rect">
            <a:avLst/>
          </a:prstGeom>
        </p:spPr>
      </p:pic>
      <p:sp>
        <p:nvSpPr>
          <p:cNvPr id="8" name="object 8"/>
          <p:cNvSpPr txBox="1"/>
          <p:nvPr/>
        </p:nvSpPr>
        <p:spPr>
          <a:xfrm>
            <a:off x="4911595" y="3508023"/>
            <a:ext cx="3775203" cy="584775"/>
          </a:xfrm>
          <a:prstGeom prst="rect">
            <a:avLst/>
          </a:prstGeom>
        </p:spPr>
        <p:txBody>
          <a:bodyPr vert="horz" wrap="square" lIns="0" tIns="15240" rIns="0" bIns="0" rtlCol="0">
            <a:spAutoFit/>
          </a:bodyPr>
          <a:lstStyle/>
          <a:p>
            <a:pPr marL="12700">
              <a:lnSpc>
                <a:spcPct val="100000"/>
              </a:lnSpc>
              <a:spcBef>
                <a:spcPts val="120"/>
              </a:spcBef>
            </a:pPr>
            <a:r>
              <a:rPr lang="en-US" sz="1850" dirty="0">
                <a:solidFill>
                  <a:srgbClr val="FFFFFF"/>
                </a:solidFill>
                <a:latin typeface="Arial MT"/>
                <a:cs typeface="Arial MT"/>
              </a:rPr>
              <a:t>Pandya Rishi </a:t>
            </a:r>
            <a:r>
              <a:rPr lang="en-US" sz="1850" dirty="0" err="1">
                <a:solidFill>
                  <a:srgbClr val="FFFFFF"/>
                </a:solidFill>
                <a:latin typeface="Arial MT"/>
                <a:cs typeface="Arial MT"/>
              </a:rPr>
              <a:t>Kanaiyalal</a:t>
            </a:r>
            <a:endParaRPr sz="1850" dirty="0">
              <a:latin typeface="Arial MT"/>
              <a:cs typeface="Arial MT"/>
            </a:endParaRPr>
          </a:p>
          <a:p>
            <a:pPr marL="12700">
              <a:lnSpc>
                <a:spcPct val="100000"/>
              </a:lnSpc>
              <a:spcBef>
                <a:spcPts val="25"/>
              </a:spcBef>
            </a:pPr>
            <a:r>
              <a:rPr lang="en-US" sz="1850" dirty="0">
                <a:solidFill>
                  <a:srgbClr val="FFFFFF"/>
                </a:solidFill>
                <a:latin typeface="Arial MT"/>
                <a:cs typeface="Arial MT"/>
              </a:rPr>
              <a:t>Parmar Kuldeepkumar </a:t>
            </a:r>
            <a:r>
              <a:rPr lang="en-US" sz="1850" dirty="0" err="1">
                <a:solidFill>
                  <a:srgbClr val="FFFFFF"/>
                </a:solidFill>
                <a:latin typeface="Arial MT"/>
                <a:cs typeface="Arial MT"/>
              </a:rPr>
              <a:t>Pravinbhai</a:t>
            </a:r>
            <a:endParaRPr sz="1850" dirty="0">
              <a:latin typeface="Arial MT"/>
              <a:cs typeface="Arial MT"/>
            </a:endParaRPr>
          </a:p>
        </p:txBody>
      </p:sp>
      <p:sp>
        <p:nvSpPr>
          <p:cNvPr id="9" name="object 9"/>
          <p:cNvSpPr txBox="1"/>
          <p:nvPr/>
        </p:nvSpPr>
        <p:spPr>
          <a:xfrm>
            <a:off x="8614917" y="4937252"/>
            <a:ext cx="2735325" cy="446276"/>
          </a:xfrm>
          <a:prstGeom prst="rect">
            <a:avLst/>
          </a:prstGeom>
        </p:spPr>
        <p:txBody>
          <a:bodyPr vert="horz" wrap="square" lIns="0" tIns="15240" rIns="0" bIns="0" rtlCol="0">
            <a:spAutoFit/>
          </a:bodyPr>
          <a:lstStyle/>
          <a:p>
            <a:pPr marL="12700">
              <a:lnSpc>
                <a:spcPct val="100000"/>
              </a:lnSpc>
              <a:spcBef>
                <a:spcPts val="120"/>
              </a:spcBef>
            </a:pPr>
            <a:r>
              <a:rPr lang="en-IN" sz="2800" dirty="0">
                <a:solidFill>
                  <a:schemeClr val="bg1"/>
                </a:solidFill>
                <a:latin typeface="Arial MT"/>
                <a:cs typeface="Arial MT"/>
              </a:rPr>
              <a:t>Sagar Chouhan</a:t>
            </a:r>
            <a:endParaRPr sz="2800" dirty="0">
              <a:solidFill>
                <a:schemeClr val="bg1"/>
              </a:solidFill>
              <a:latin typeface="Arial MT"/>
              <a:cs typeface="Arial MT"/>
            </a:endParaRPr>
          </a:p>
        </p:txBody>
      </p:sp>
      <p:sp>
        <p:nvSpPr>
          <p:cNvPr id="10" name="object 10"/>
          <p:cNvSpPr txBox="1"/>
          <p:nvPr/>
        </p:nvSpPr>
        <p:spPr>
          <a:xfrm>
            <a:off x="4839714" y="5505703"/>
            <a:ext cx="6971286" cy="300082"/>
          </a:xfrm>
          <a:prstGeom prst="rect">
            <a:avLst/>
          </a:prstGeom>
        </p:spPr>
        <p:txBody>
          <a:bodyPr vert="horz" wrap="square" lIns="0" tIns="15240" rIns="0" bIns="0" rtlCol="0">
            <a:spAutoFit/>
          </a:bodyPr>
          <a:lstStyle/>
          <a:p>
            <a:pPr marL="12700">
              <a:lnSpc>
                <a:spcPct val="100000"/>
              </a:lnSpc>
              <a:spcBef>
                <a:spcPts val="120"/>
              </a:spcBef>
            </a:pPr>
            <a:r>
              <a:rPr sz="1850" dirty="0">
                <a:solidFill>
                  <a:srgbClr val="FFFFFF"/>
                </a:solidFill>
                <a:latin typeface="Arial MT"/>
                <a:cs typeface="Arial MT"/>
              </a:rPr>
              <a:t>College Name</a:t>
            </a:r>
            <a:r>
              <a:rPr sz="1850" spc="20" dirty="0">
                <a:solidFill>
                  <a:srgbClr val="FFFFFF"/>
                </a:solidFill>
                <a:latin typeface="Arial MT"/>
                <a:cs typeface="Arial MT"/>
              </a:rPr>
              <a:t> </a:t>
            </a:r>
            <a:r>
              <a:rPr lang="en-IN" sz="1850" spc="-60" dirty="0">
                <a:solidFill>
                  <a:srgbClr val="FFFFFF"/>
                </a:solidFill>
                <a:latin typeface="Arial MT"/>
                <a:cs typeface="Arial MT"/>
              </a:rPr>
              <a:t>– </a:t>
            </a:r>
            <a:r>
              <a:rPr lang="en-US" sz="1850" spc="-60" dirty="0">
                <a:solidFill>
                  <a:srgbClr val="FFFFFF"/>
                </a:solidFill>
                <a:latin typeface="Arial MT"/>
                <a:cs typeface="Arial MT"/>
              </a:rPr>
              <a:t>Government Engineering College, </a:t>
            </a:r>
            <a:r>
              <a:rPr lang="en-US" sz="1850" spc="-60" dirty="0" err="1">
                <a:solidFill>
                  <a:srgbClr val="FFFFFF"/>
                </a:solidFill>
                <a:latin typeface="Arial MT"/>
                <a:cs typeface="Arial MT"/>
              </a:rPr>
              <a:t>Palanpur</a:t>
            </a:r>
            <a:endParaRPr sz="1850" dirty="0">
              <a:latin typeface="Arial MT"/>
              <a:cs typeface="Arial M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6055359"/>
            <a:ext cx="12192000" cy="0"/>
          </a:xfrm>
          <a:custGeom>
            <a:avLst/>
            <a:gdLst/>
            <a:ahLst/>
            <a:cxnLst/>
            <a:rect l="l" t="t" r="r" b="b"/>
            <a:pathLst>
              <a:path w="12192000">
                <a:moveTo>
                  <a:pt x="0" y="0"/>
                </a:moveTo>
                <a:lnTo>
                  <a:pt x="12192000" y="0"/>
                </a:lnTo>
              </a:path>
            </a:pathLst>
          </a:custGeom>
          <a:ln w="12700">
            <a:solidFill>
              <a:srgbClr val="D9D9D9"/>
            </a:solidFill>
          </a:ln>
        </p:spPr>
        <p:txBody>
          <a:bodyPr wrap="square" lIns="0" tIns="0" rIns="0" bIns="0" rtlCol="0"/>
          <a:lstStyle/>
          <a:p>
            <a:endParaRPr/>
          </a:p>
        </p:txBody>
      </p:sp>
      <p:sp>
        <p:nvSpPr>
          <p:cNvPr id="3" name="object 3" descr="$PPTXTitle"/>
          <p:cNvSpPr txBox="1">
            <a:spLocks noGrp="1"/>
          </p:cNvSpPr>
          <p:nvPr>
            <p:ph type="title"/>
          </p:nvPr>
        </p:nvSpPr>
        <p:spPr>
          <a:prstGeom prst="rect">
            <a:avLst/>
          </a:prstGeom>
        </p:spPr>
        <p:txBody>
          <a:bodyPr vert="horz" wrap="square" lIns="0" tIns="13335" rIns="0" bIns="0" rtlCol="0">
            <a:spAutoFit/>
          </a:bodyPr>
          <a:lstStyle/>
          <a:p>
            <a:pPr marL="218440">
              <a:lnSpc>
                <a:spcPct val="100000"/>
              </a:lnSpc>
              <a:spcBef>
                <a:spcPts val="105"/>
              </a:spcBef>
            </a:pPr>
            <a:r>
              <a:rPr dirty="0"/>
              <a:t>Project</a:t>
            </a:r>
            <a:r>
              <a:rPr spc="-35" dirty="0"/>
              <a:t> </a:t>
            </a:r>
            <a:r>
              <a:rPr spc="-10" dirty="0"/>
              <a:t>Objectives</a:t>
            </a:r>
          </a:p>
        </p:txBody>
      </p:sp>
      <p:pic>
        <p:nvPicPr>
          <p:cNvPr id="4" name="object 4"/>
          <p:cNvPicPr/>
          <p:nvPr/>
        </p:nvPicPr>
        <p:blipFill>
          <a:blip r:embed="rId2" cstate="print"/>
          <a:stretch>
            <a:fillRect/>
          </a:stretch>
        </p:blipFill>
        <p:spPr>
          <a:xfrm>
            <a:off x="7081266" y="1124661"/>
            <a:ext cx="4602860" cy="4613656"/>
          </a:xfrm>
          <a:prstGeom prst="rect">
            <a:avLst/>
          </a:prstGeom>
        </p:spPr>
      </p:pic>
      <p:sp>
        <p:nvSpPr>
          <p:cNvPr id="5" name="object 5"/>
          <p:cNvSpPr txBox="1"/>
          <p:nvPr/>
        </p:nvSpPr>
        <p:spPr>
          <a:xfrm>
            <a:off x="486562" y="1744604"/>
            <a:ext cx="6594704" cy="3161763"/>
          </a:xfrm>
          <a:prstGeom prst="rect">
            <a:avLst/>
          </a:prstGeom>
        </p:spPr>
        <p:txBody>
          <a:bodyPr vert="horz" wrap="square" lIns="0" tIns="133985" rIns="0" bIns="0" rtlCol="0">
            <a:spAutoFit/>
          </a:bodyPr>
          <a:lstStyle/>
          <a:p>
            <a:pPr marL="196215" indent="-183515">
              <a:lnSpc>
                <a:spcPct val="100000"/>
              </a:lnSpc>
              <a:spcBef>
                <a:spcPts val="1055"/>
              </a:spcBef>
              <a:buChar char="•"/>
              <a:tabLst>
                <a:tab pos="196215" algn="l"/>
              </a:tabLst>
            </a:pPr>
            <a:r>
              <a:rPr lang="en-IN" sz="2000" dirty="0"/>
              <a:t>To detect waste items using image recognition. </a:t>
            </a:r>
          </a:p>
          <a:p>
            <a:pPr marL="196215" indent="-183515">
              <a:lnSpc>
                <a:spcPct val="100000"/>
              </a:lnSpc>
              <a:spcBef>
                <a:spcPts val="1055"/>
              </a:spcBef>
              <a:buChar char="•"/>
              <a:tabLst>
                <a:tab pos="196215" algn="l"/>
              </a:tabLst>
            </a:pPr>
            <a:r>
              <a:rPr lang="en-IN" sz="2000" dirty="0"/>
              <a:t>To classify waste into categories such as Plastic, Paper, Glass, Metal, Organic and E-Waste. </a:t>
            </a:r>
          </a:p>
          <a:p>
            <a:pPr marL="196215" indent="-183515">
              <a:lnSpc>
                <a:spcPct val="100000"/>
              </a:lnSpc>
              <a:spcBef>
                <a:spcPts val="1055"/>
              </a:spcBef>
              <a:buChar char="•"/>
              <a:tabLst>
                <a:tab pos="196215" algn="l"/>
              </a:tabLst>
            </a:pPr>
            <a:r>
              <a:rPr lang="en-IN" sz="2000" dirty="0"/>
              <a:t>To provide proper disposal and recycling guidance.</a:t>
            </a:r>
          </a:p>
          <a:p>
            <a:pPr marL="196215" indent="-183515">
              <a:lnSpc>
                <a:spcPct val="100000"/>
              </a:lnSpc>
              <a:spcBef>
                <a:spcPts val="1055"/>
              </a:spcBef>
              <a:buChar char="•"/>
              <a:tabLst>
                <a:tab pos="196215" algn="l"/>
              </a:tabLst>
            </a:pPr>
            <a:r>
              <a:rPr lang="en-IN" sz="2000" dirty="0"/>
              <a:t>To spread awareness about sustainable waste management. </a:t>
            </a:r>
          </a:p>
          <a:p>
            <a:pPr marL="196215" indent="-183515">
              <a:lnSpc>
                <a:spcPct val="100000"/>
              </a:lnSpc>
              <a:spcBef>
                <a:spcPts val="1055"/>
              </a:spcBef>
              <a:buChar char="•"/>
              <a:tabLst>
                <a:tab pos="196215" algn="l"/>
              </a:tabLst>
            </a:pPr>
            <a:r>
              <a:rPr lang="en-IN" sz="2000" dirty="0"/>
              <a:t>To use Artificial Intelligence for supporting environmental sustainability</a:t>
            </a:r>
            <a:r>
              <a:rPr lang="en-IN" sz="1600" dirty="0"/>
              <a:t>.</a:t>
            </a:r>
            <a:endParaRPr sz="1600" dirty="0">
              <a:latin typeface="Arial MT"/>
              <a:cs typeface="Arial MT"/>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67055" rIns="0" bIns="0" rtlCol="0">
            <a:spAutoFit/>
          </a:bodyPr>
          <a:lstStyle/>
          <a:p>
            <a:pPr marL="12700">
              <a:lnSpc>
                <a:spcPct val="100000"/>
              </a:lnSpc>
              <a:spcBef>
                <a:spcPts val="105"/>
              </a:spcBef>
            </a:pPr>
            <a:r>
              <a:rPr dirty="0"/>
              <a:t>Problem</a:t>
            </a:r>
            <a:r>
              <a:rPr spc="-35" dirty="0"/>
              <a:t> </a:t>
            </a:r>
            <a:r>
              <a:rPr spc="-10" dirty="0"/>
              <a:t>Statement</a:t>
            </a:r>
          </a:p>
        </p:txBody>
      </p:sp>
      <p:pic>
        <p:nvPicPr>
          <p:cNvPr id="3" name="Picture 2" descr="Plastic Water Bottle Pollution: Where do all the Bottles End Up? –  sustainme.in">
            <a:extLst>
              <a:ext uri="{FF2B5EF4-FFF2-40B4-BE49-F238E27FC236}">
                <a16:creationId xmlns:a16="http://schemas.microsoft.com/office/drawing/2014/main" id="{B4B57031-FC8C-9BD2-18DB-832A02348DEC}"/>
              </a:ext>
            </a:extLst>
          </p:cNvPr>
          <p:cNvPicPr>
            <a:picLocks noChangeAspect="1"/>
          </p:cNvPicPr>
          <p:nvPr/>
        </p:nvPicPr>
        <p:blipFill>
          <a:blip r:embed="rId2"/>
          <a:stretch>
            <a:fillRect/>
          </a:stretch>
        </p:blipFill>
        <p:spPr>
          <a:xfrm>
            <a:off x="7543800" y="762001"/>
            <a:ext cx="4648200" cy="6096000"/>
          </a:xfrm>
          <a:prstGeom prst="rect">
            <a:avLst/>
          </a:prstGeom>
        </p:spPr>
      </p:pic>
      <p:sp>
        <p:nvSpPr>
          <p:cNvPr id="5" name="TextBox 4">
            <a:extLst>
              <a:ext uri="{FF2B5EF4-FFF2-40B4-BE49-F238E27FC236}">
                <a16:creationId xmlns:a16="http://schemas.microsoft.com/office/drawing/2014/main" id="{8276C9A3-5CB1-4DC0-F6F6-3135C9BAF4D2}"/>
              </a:ext>
            </a:extLst>
          </p:cNvPr>
          <p:cNvSpPr txBox="1"/>
          <p:nvPr/>
        </p:nvSpPr>
        <p:spPr>
          <a:xfrm>
            <a:off x="316382" y="1676400"/>
            <a:ext cx="7313778" cy="3170099"/>
          </a:xfrm>
          <a:prstGeom prst="rect">
            <a:avLst/>
          </a:prstGeom>
          <a:noFill/>
        </p:spPr>
        <p:txBody>
          <a:bodyPr wrap="square">
            <a:spAutoFit/>
          </a:bodyPr>
          <a:lstStyle/>
          <a:p>
            <a:r>
              <a:rPr lang="en-IN" sz="2000" dirty="0"/>
              <a:t>Improper waste disposal is one of the major environmental challenges today. Many people are unaware of the correct method of disposing different types of waste. As a result, recyclable materials often end up in landfills, causing pollution and resource wastage.</a:t>
            </a:r>
          </a:p>
          <a:p>
            <a:endParaRPr lang="en-IN" sz="2000" dirty="0"/>
          </a:p>
          <a:p>
            <a:r>
              <a:rPr lang="en-IN" sz="2000" dirty="0"/>
              <a:t>The aim of this project is to develop an AI-based solution that helps users identify waste items and provides proper recycling and disposal recommendations.</a:t>
            </a:r>
          </a:p>
          <a:p>
            <a:endParaRPr lang="en-IN" sz="2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67055" rIns="0" bIns="0" rtlCol="0">
            <a:spAutoFit/>
          </a:bodyPr>
          <a:lstStyle/>
          <a:p>
            <a:pPr marL="12700">
              <a:lnSpc>
                <a:spcPct val="100000"/>
              </a:lnSpc>
              <a:spcBef>
                <a:spcPts val="105"/>
              </a:spcBef>
            </a:pPr>
            <a:r>
              <a:rPr dirty="0"/>
              <a:t>Project</a:t>
            </a:r>
            <a:r>
              <a:rPr spc="-60" dirty="0"/>
              <a:t> </a:t>
            </a:r>
            <a:r>
              <a:rPr dirty="0"/>
              <a:t>Overview</a:t>
            </a:r>
            <a:r>
              <a:rPr spc="-20" dirty="0"/>
              <a:t> </a:t>
            </a:r>
            <a:r>
              <a:rPr dirty="0"/>
              <a:t>-</a:t>
            </a:r>
            <a:r>
              <a:rPr spc="-35" dirty="0"/>
              <a:t> </a:t>
            </a:r>
            <a:r>
              <a:rPr spc="-10" dirty="0"/>
              <a:t>Introduction</a:t>
            </a:r>
          </a:p>
        </p:txBody>
      </p:sp>
      <p:sp>
        <p:nvSpPr>
          <p:cNvPr id="4" name="TextBox 3">
            <a:extLst>
              <a:ext uri="{FF2B5EF4-FFF2-40B4-BE49-F238E27FC236}">
                <a16:creationId xmlns:a16="http://schemas.microsoft.com/office/drawing/2014/main" id="{6D195DDA-5E16-DBB3-E26A-E205B5171443}"/>
              </a:ext>
            </a:extLst>
          </p:cNvPr>
          <p:cNvSpPr txBox="1"/>
          <p:nvPr/>
        </p:nvSpPr>
        <p:spPr>
          <a:xfrm>
            <a:off x="255422" y="1828800"/>
            <a:ext cx="11936578" cy="2554545"/>
          </a:xfrm>
          <a:prstGeom prst="rect">
            <a:avLst/>
          </a:prstGeom>
          <a:noFill/>
        </p:spPr>
        <p:txBody>
          <a:bodyPr wrap="square">
            <a:spAutoFit/>
          </a:bodyPr>
          <a:lstStyle/>
          <a:p>
            <a:pPr>
              <a:buNone/>
            </a:pPr>
            <a:r>
              <a:rPr lang="en-IN" sz="2000" dirty="0"/>
              <a:t>Eco-Scan AI is an Artificial Intelligence based waste detection and recycling assistant developed to support sustainable waste management. The system uses Computer Vision and a Convolutional Neural Network (CNN) model to identify different types of waste from uploaded images.</a:t>
            </a:r>
          </a:p>
          <a:p>
            <a:pPr>
              <a:buNone/>
            </a:pPr>
            <a:endParaRPr lang="en-IN" sz="2000" dirty="0"/>
          </a:p>
          <a:p>
            <a:pPr>
              <a:buNone/>
            </a:pPr>
            <a:r>
              <a:rPr lang="en-IN" sz="2000" dirty="0"/>
              <a:t>Users can upload an image of a waste item through a simple </a:t>
            </a:r>
            <a:r>
              <a:rPr lang="en-IN" sz="2000" dirty="0" err="1"/>
              <a:t>Streamlit</a:t>
            </a:r>
            <a:r>
              <a:rPr lang="en-IN" sz="2000" dirty="0"/>
              <a:t> web application. The trained model </a:t>
            </a:r>
            <a:r>
              <a:rPr lang="en-IN" sz="2000" dirty="0" err="1"/>
              <a:t>analyzes</a:t>
            </a:r>
            <a:r>
              <a:rPr lang="en-IN" sz="2000" dirty="0"/>
              <a:t> the image, predicts the waste category, and provides suitable recycling or disposal guidance. The project aims to encourage responsible waste management practices and create awareness about environmental sustainability through the use of AI technology.</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67055" rIns="0" bIns="0" rtlCol="0">
            <a:spAutoFit/>
          </a:bodyPr>
          <a:lstStyle/>
          <a:p>
            <a:pPr marL="12700">
              <a:lnSpc>
                <a:spcPct val="100000"/>
              </a:lnSpc>
              <a:spcBef>
                <a:spcPts val="105"/>
              </a:spcBef>
            </a:pPr>
            <a:r>
              <a:rPr dirty="0"/>
              <a:t>End</a:t>
            </a:r>
            <a:r>
              <a:rPr spc="-50" dirty="0"/>
              <a:t> </a:t>
            </a:r>
            <a:r>
              <a:rPr spc="-10" dirty="0"/>
              <a:t>Users</a:t>
            </a:r>
          </a:p>
        </p:txBody>
      </p:sp>
      <p:sp>
        <p:nvSpPr>
          <p:cNvPr id="4" name="TextBox 3">
            <a:extLst>
              <a:ext uri="{FF2B5EF4-FFF2-40B4-BE49-F238E27FC236}">
                <a16:creationId xmlns:a16="http://schemas.microsoft.com/office/drawing/2014/main" id="{50CB84F6-01A7-5A82-ADA9-1A976ADCC7FE}"/>
              </a:ext>
            </a:extLst>
          </p:cNvPr>
          <p:cNvSpPr txBox="1"/>
          <p:nvPr/>
        </p:nvSpPr>
        <p:spPr>
          <a:xfrm>
            <a:off x="280822" y="1272004"/>
            <a:ext cx="11911178" cy="5570756"/>
          </a:xfrm>
          <a:prstGeom prst="rect">
            <a:avLst/>
          </a:prstGeom>
          <a:noFill/>
        </p:spPr>
        <p:txBody>
          <a:bodyPr wrap="square">
            <a:spAutoFit/>
          </a:bodyPr>
          <a:lstStyle/>
          <a:p>
            <a:pPr>
              <a:buNone/>
            </a:pPr>
            <a:r>
              <a:rPr lang="en-IN" sz="2400" dirty="0"/>
              <a:t>The proposed system can be used by a wide range of users who want to improve waste segregation and recycling practices.</a:t>
            </a:r>
          </a:p>
          <a:p>
            <a:pPr>
              <a:buNone/>
            </a:pPr>
            <a:endParaRPr lang="en-IN" sz="2000" dirty="0"/>
          </a:p>
          <a:p>
            <a:pPr>
              <a:buFont typeface="Arial" panose="020B0604020202020204" pitchFamily="34" charset="0"/>
              <a:buChar char="•"/>
            </a:pPr>
            <a:r>
              <a:rPr lang="en-IN" sz="2000" dirty="0"/>
              <a:t> Students and educational institutions for learning about waste management. </a:t>
            </a:r>
          </a:p>
          <a:p>
            <a:pPr>
              <a:buFont typeface="Arial" panose="020B0604020202020204" pitchFamily="34" charset="0"/>
              <a:buChar char="•"/>
            </a:pPr>
            <a:endParaRPr lang="en-IN" sz="2000" dirty="0"/>
          </a:p>
          <a:p>
            <a:pPr>
              <a:buFont typeface="Arial" panose="020B0604020202020204" pitchFamily="34" charset="0"/>
              <a:buChar char="•"/>
            </a:pPr>
            <a:r>
              <a:rPr lang="en-IN" sz="2000" dirty="0"/>
              <a:t> Households for proper disposal of daily waste items. </a:t>
            </a:r>
          </a:p>
          <a:p>
            <a:pPr>
              <a:buFont typeface="Arial" panose="020B0604020202020204" pitchFamily="34" charset="0"/>
              <a:buChar char="•"/>
            </a:pPr>
            <a:endParaRPr lang="en-IN" sz="2000" dirty="0"/>
          </a:p>
          <a:p>
            <a:pPr>
              <a:buFont typeface="Arial" panose="020B0604020202020204" pitchFamily="34" charset="0"/>
              <a:buChar char="•"/>
            </a:pPr>
            <a:r>
              <a:rPr lang="en-IN" sz="2000" dirty="0"/>
              <a:t> Recycling </a:t>
            </a:r>
            <a:r>
              <a:rPr lang="en-IN" sz="2000" dirty="0" err="1"/>
              <a:t>centers</a:t>
            </a:r>
            <a:r>
              <a:rPr lang="en-IN" sz="2000" dirty="0"/>
              <a:t> for quick waste categorization. </a:t>
            </a:r>
          </a:p>
          <a:p>
            <a:pPr>
              <a:buFont typeface="Arial" panose="020B0604020202020204" pitchFamily="34" charset="0"/>
              <a:buChar char="•"/>
            </a:pPr>
            <a:endParaRPr lang="en-IN" sz="2000" dirty="0"/>
          </a:p>
          <a:p>
            <a:pPr>
              <a:buFont typeface="Arial" panose="020B0604020202020204" pitchFamily="34" charset="0"/>
              <a:buChar char="•"/>
            </a:pPr>
            <a:r>
              <a:rPr lang="en-IN" sz="2000" dirty="0"/>
              <a:t> Environmental organizations conducting awareness programs. </a:t>
            </a:r>
          </a:p>
          <a:p>
            <a:pPr>
              <a:buFont typeface="Arial" panose="020B0604020202020204" pitchFamily="34" charset="0"/>
              <a:buChar char="•"/>
            </a:pPr>
            <a:endParaRPr lang="en-IN" sz="2000" dirty="0"/>
          </a:p>
          <a:p>
            <a:pPr>
              <a:buFont typeface="Arial" panose="020B0604020202020204" pitchFamily="34" charset="0"/>
              <a:buChar char="•"/>
            </a:pPr>
            <a:r>
              <a:rPr lang="en-IN" sz="2000" dirty="0"/>
              <a:t> Municipal bodies promoting sustainable waste management. </a:t>
            </a:r>
          </a:p>
          <a:p>
            <a:pPr>
              <a:buFont typeface="Arial" panose="020B0604020202020204" pitchFamily="34" charset="0"/>
              <a:buChar char="•"/>
            </a:pPr>
            <a:endParaRPr lang="en-IN" sz="2000" dirty="0"/>
          </a:p>
          <a:p>
            <a:pPr>
              <a:buFont typeface="Arial" panose="020B0604020202020204" pitchFamily="34" charset="0"/>
              <a:buChar char="•"/>
            </a:pPr>
            <a:r>
              <a:rPr lang="en-IN" sz="2000" dirty="0"/>
              <a:t> General public interested in eco-friendly practices. </a:t>
            </a:r>
          </a:p>
          <a:p>
            <a:endParaRPr lang="en-IN" sz="2000" dirty="0"/>
          </a:p>
          <a:p>
            <a:pPr>
              <a:buNone/>
            </a:pPr>
            <a:r>
              <a:rPr lang="en-IN" sz="2400" dirty="0"/>
              <a:t>The system is designed with a simple interface so that users of all age groups can easily use it.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67055" rIns="0" bIns="0" rtlCol="0">
            <a:spAutoFit/>
          </a:bodyPr>
          <a:lstStyle/>
          <a:p>
            <a:pPr marL="12700">
              <a:lnSpc>
                <a:spcPct val="100000"/>
              </a:lnSpc>
              <a:spcBef>
                <a:spcPts val="105"/>
              </a:spcBef>
            </a:pPr>
            <a:r>
              <a:rPr dirty="0"/>
              <a:t>Wow</a:t>
            </a:r>
            <a:r>
              <a:rPr spc="-35" dirty="0"/>
              <a:t> </a:t>
            </a:r>
            <a:r>
              <a:rPr dirty="0"/>
              <a:t>Factors</a:t>
            </a:r>
            <a:r>
              <a:rPr spc="-35" dirty="0"/>
              <a:t> </a:t>
            </a:r>
            <a:r>
              <a:rPr dirty="0"/>
              <a:t>in</a:t>
            </a:r>
            <a:r>
              <a:rPr spc="-15" dirty="0"/>
              <a:t> </a:t>
            </a:r>
            <a:r>
              <a:rPr spc="-10" dirty="0"/>
              <a:t>Project</a:t>
            </a:r>
          </a:p>
        </p:txBody>
      </p:sp>
      <p:sp>
        <p:nvSpPr>
          <p:cNvPr id="4" name="TextBox 3">
            <a:extLst>
              <a:ext uri="{FF2B5EF4-FFF2-40B4-BE49-F238E27FC236}">
                <a16:creationId xmlns:a16="http://schemas.microsoft.com/office/drawing/2014/main" id="{9E1DB4DA-742A-7189-C1F5-0B1A8ADA9F02}"/>
              </a:ext>
            </a:extLst>
          </p:cNvPr>
          <p:cNvSpPr txBox="1"/>
          <p:nvPr/>
        </p:nvSpPr>
        <p:spPr>
          <a:xfrm>
            <a:off x="275742" y="1329181"/>
            <a:ext cx="11911178" cy="5478423"/>
          </a:xfrm>
          <a:prstGeom prst="rect">
            <a:avLst/>
          </a:prstGeom>
          <a:noFill/>
        </p:spPr>
        <p:txBody>
          <a:bodyPr wrap="square">
            <a:spAutoFit/>
          </a:bodyPr>
          <a:lstStyle/>
          <a:p>
            <a:pPr>
              <a:buNone/>
            </a:pPr>
            <a:r>
              <a:rPr lang="en-IN" sz="2400" b="1" dirty="0"/>
              <a:t>Wow Factors</a:t>
            </a:r>
            <a:endParaRPr lang="en-IN" b="1" dirty="0"/>
          </a:p>
          <a:p>
            <a:pPr>
              <a:buFont typeface="Arial" panose="020B0604020202020204" pitchFamily="34" charset="0"/>
              <a:buChar char="•"/>
            </a:pPr>
            <a:r>
              <a:rPr lang="en-IN" sz="2000" dirty="0"/>
              <a:t>Uses Artificial Intelligence for automatic waste identification.</a:t>
            </a:r>
          </a:p>
          <a:p>
            <a:endParaRPr lang="en-IN" sz="2000" dirty="0"/>
          </a:p>
          <a:p>
            <a:pPr>
              <a:buFont typeface="Arial" panose="020B0604020202020204" pitchFamily="34" charset="0"/>
              <a:buChar char="•"/>
            </a:pPr>
            <a:r>
              <a:rPr lang="en-IN" sz="2000" dirty="0"/>
              <a:t>Provides instant waste classification from uploaded images. </a:t>
            </a:r>
          </a:p>
          <a:p>
            <a:pPr>
              <a:buFont typeface="Arial" panose="020B0604020202020204" pitchFamily="34" charset="0"/>
              <a:buChar char="•"/>
            </a:pPr>
            <a:endParaRPr lang="en-IN" sz="2000" dirty="0"/>
          </a:p>
          <a:p>
            <a:pPr>
              <a:buFont typeface="Arial" panose="020B0604020202020204" pitchFamily="34" charset="0"/>
              <a:buChar char="•"/>
            </a:pPr>
            <a:r>
              <a:rPr lang="en-IN" sz="2000" dirty="0"/>
              <a:t>Recommends appropriate recycling or disposal methods. </a:t>
            </a:r>
          </a:p>
          <a:p>
            <a:pPr>
              <a:buFont typeface="Arial" panose="020B0604020202020204" pitchFamily="34" charset="0"/>
              <a:buChar char="•"/>
            </a:pPr>
            <a:endParaRPr lang="en-IN" sz="2000" dirty="0"/>
          </a:p>
          <a:p>
            <a:pPr>
              <a:buFont typeface="Arial" panose="020B0604020202020204" pitchFamily="34" charset="0"/>
              <a:buChar char="•"/>
            </a:pPr>
            <a:r>
              <a:rPr lang="en-IN" sz="2000" dirty="0"/>
              <a:t>Helps users understand correct waste segregation practices.</a:t>
            </a:r>
          </a:p>
          <a:p>
            <a:pPr>
              <a:buFont typeface="Arial" panose="020B0604020202020204" pitchFamily="34" charset="0"/>
              <a:buChar char="•"/>
            </a:pPr>
            <a:r>
              <a:rPr lang="en-IN" sz="2000" dirty="0"/>
              <a:t> </a:t>
            </a:r>
          </a:p>
          <a:p>
            <a:pPr>
              <a:buFont typeface="Arial" panose="020B0604020202020204" pitchFamily="34" charset="0"/>
              <a:buChar char="•"/>
            </a:pPr>
            <a:r>
              <a:rPr lang="en-IN" sz="2000" dirty="0"/>
              <a:t>Simple and user-friendly </a:t>
            </a:r>
            <a:r>
              <a:rPr lang="en-IN" sz="2000" dirty="0" err="1"/>
              <a:t>Streamlit</a:t>
            </a:r>
            <a:r>
              <a:rPr lang="en-IN" sz="2000" dirty="0"/>
              <a:t>-based interface. </a:t>
            </a:r>
          </a:p>
          <a:p>
            <a:pPr>
              <a:buFont typeface="Arial" panose="020B0604020202020204" pitchFamily="34" charset="0"/>
              <a:buChar char="•"/>
            </a:pPr>
            <a:endParaRPr lang="en-IN" sz="2000" dirty="0"/>
          </a:p>
          <a:p>
            <a:pPr>
              <a:buFont typeface="Arial" panose="020B0604020202020204" pitchFamily="34" charset="0"/>
              <a:buChar char="•"/>
            </a:pPr>
            <a:r>
              <a:rPr lang="en-IN" sz="2000" dirty="0"/>
              <a:t>Supports environmental sustainability and green initiatives. </a:t>
            </a:r>
          </a:p>
          <a:p>
            <a:pPr>
              <a:buFont typeface="Arial" panose="020B0604020202020204" pitchFamily="34" charset="0"/>
              <a:buChar char="•"/>
            </a:pPr>
            <a:endParaRPr lang="en-IN" sz="2000" dirty="0"/>
          </a:p>
          <a:p>
            <a:pPr>
              <a:buFont typeface="Arial" panose="020B0604020202020204" pitchFamily="34" charset="0"/>
              <a:buChar char="•"/>
            </a:pPr>
            <a:r>
              <a:rPr lang="en-IN" sz="2000" dirty="0"/>
              <a:t>Can be further enhanced for real-time waste detection applications. </a:t>
            </a:r>
          </a:p>
          <a:p>
            <a:pPr>
              <a:buFont typeface="Arial" panose="020B0604020202020204" pitchFamily="34" charset="0"/>
              <a:buChar char="•"/>
            </a:pPr>
            <a:endParaRPr lang="en-IN" dirty="0"/>
          </a:p>
          <a:p>
            <a:pPr>
              <a:buNone/>
            </a:pPr>
            <a:r>
              <a:rPr lang="en-IN" sz="2400" dirty="0"/>
              <a:t>The project combines technology and environmental awareness to solve a real-world problem in a practical way.</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67055" rIns="0" bIns="0" rtlCol="0">
            <a:spAutoFit/>
          </a:bodyPr>
          <a:lstStyle/>
          <a:p>
            <a:pPr marL="12700">
              <a:lnSpc>
                <a:spcPct val="100000"/>
              </a:lnSpc>
              <a:spcBef>
                <a:spcPts val="105"/>
              </a:spcBef>
            </a:pPr>
            <a:r>
              <a:rPr dirty="0"/>
              <a:t>Modelling/Block</a:t>
            </a:r>
            <a:r>
              <a:rPr spc="-55" dirty="0"/>
              <a:t> </a:t>
            </a:r>
            <a:r>
              <a:rPr dirty="0"/>
              <a:t>Diagram/Flow</a:t>
            </a:r>
            <a:r>
              <a:rPr spc="-50" dirty="0"/>
              <a:t> </a:t>
            </a:r>
            <a:r>
              <a:rPr dirty="0"/>
              <a:t>of</a:t>
            </a:r>
            <a:r>
              <a:rPr spc="-25" dirty="0"/>
              <a:t> </a:t>
            </a:r>
            <a:r>
              <a:rPr spc="-10" dirty="0"/>
              <a:t>Project</a:t>
            </a:r>
          </a:p>
        </p:txBody>
      </p:sp>
      <p:sp>
        <p:nvSpPr>
          <p:cNvPr id="4" name="TextBox 3">
            <a:extLst>
              <a:ext uri="{FF2B5EF4-FFF2-40B4-BE49-F238E27FC236}">
                <a16:creationId xmlns:a16="http://schemas.microsoft.com/office/drawing/2014/main" id="{3A0E2172-F5C8-2D12-6C4F-667BBB8A22A2}"/>
              </a:ext>
            </a:extLst>
          </p:cNvPr>
          <p:cNvSpPr txBox="1"/>
          <p:nvPr/>
        </p:nvSpPr>
        <p:spPr>
          <a:xfrm>
            <a:off x="487678" y="1317108"/>
            <a:ext cx="11890858" cy="769441"/>
          </a:xfrm>
          <a:prstGeom prst="rect">
            <a:avLst/>
          </a:prstGeom>
          <a:noFill/>
        </p:spPr>
        <p:txBody>
          <a:bodyPr wrap="square">
            <a:spAutoFit/>
          </a:bodyPr>
          <a:lstStyle/>
          <a:p>
            <a:pPr>
              <a:buNone/>
            </a:pPr>
            <a:r>
              <a:rPr lang="en-IN" sz="2400" b="1" dirty="0"/>
              <a:t>Project Flow</a:t>
            </a:r>
          </a:p>
          <a:p>
            <a:pPr>
              <a:buNone/>
            </a:pPr>
            <a:r>
              <a:rPr lang="en-IN" dirty="0"/>
              <a:t> </a:t>
            </a:r>
            <a:r>
              <a:rPr lang="en-IN" sz="2000" dirty="0"/>
              <a:t>The working process of Eco-Scan AI follows a simple and structured flow.</a:t>
            </a:r>
            <a:endParaRPr lang="en-IN" dirty="0"/>
          </a:p>
        </p:txBody>
      </p:sp>
      <p:sp>
        <p:nvSpPr>
          <p:cNvPr id="5" name="Rectangle 4">
            <a:extLst>
              <a:ext uri="{FF2B5EF4-FFF2-40B4-BE49-F238E27FC236}">
                <a16:creationId xmlns:a16="http://schemas.microsoft.com/office/drawing/2014/main" id="{E29AB181-CC90-90F3-53DD-6EC30DA63774}"/>
              </a:ext>
            </a:extLst>
          </p:cNvPr>
          <p:cNvSpPr/>
          <p:nvPr/>
        </p:nvSpPr>
        <p:spPr>
          <a:xfrm>
            <a:off x="1188720" y="2144049"/>
            <a:ext cx="9601200" cy="30537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000" dirty="0"/>
              <a:t>   User Uploads Image of Waste Product</a:t>
            </a:r>
          </a:p>
        </p:txBody>
      </p:sp>
      <p:cxnSp>
        <p:nvCxnSpPr>
          <p:cNvPr id="7" name="Straight Arrow Connector 6">
            <a:extLst>
              <a:ext uri="{FF2B5EF4-FFF2-40B4-BE49-F238E27FC236}">
                <a16:creationId xmlns:a16="http://schemas.microsoft.com/office/drawing/2014/main" id="{09F918AD-5FBF-1DF1-DB66-D07F8751CFDF}"/>
              </a:ext>
            </a:extLst>
          </p:cNvPr>
          <p:cNvCxnSpPr>
            <a:cxnSpLocks/>
            <a:stCxn id="5" idx="2"/>
          </p:cNvCxnSpPr>
          <p:nvPr/>
        </p:nvCxnSpPr>
        <p:spPr>
          <a:xfrm>
            <a:off x="5989320" y="2449428"/>
            <a:ext cx="0" cy="304221"/>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0" name="Rectangle 9">
            <a:extLst>
              <a:ext uri="{FF2B5EF4-FFF2-40B4-BE49-F238E27FC236}">
                <a16:creationId xmlns:a16="http://schemas.microsoft.com/office/drawing/2014/main" id="{CB01F06A-DF7F-9883-07A1-D23F5281FB6A}"/>
              </a:ext>
            </a:extLst>
          </p:cNvPr>
          <p:cNvSpPr/>
          <p:nvPr/>
        </p:nvSpPr>
        <p:spPr>
          <a:xfrm>
            <a:off x="1188720" y="2749247"/>
            <a:ext cx="9601200" cy="30537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000"/>
              <a:t>Image Preprocessing</a:t>
            </a:r>
            <a:endParaRPr lang="en-IN" sz="2000" dirty="0"/>
          </a:p>
        </p:txBody>
      </p:sp>
      <p:pic>
        <p:nvPicPr>
          <p:cNvPr id="12" name="Picture 11">
            <a:extLst>
              <a:ext uri="{FF2B5EF4-FFF2-40B4-BE49-F238E27FC236}">
                <a16:creationId xmlns:a16="http://schemas.microsoft.com/office/drawing/2014/main" id="{8C535B15-AF66-9803-CB35-3AD4DD0236DD}"/>
              </a:ext>
            </a:extLst>
          </p:cNvPr>
          <p:cNvPicPr>
            <a:picLocks noChangeAspect="1"/>
          </p:cNvPicPr>
          <p:nvPr/>
        </p:nvPicPr>
        <p:blipFill>
          <a:blip r:embed="rId2"/>
          <a:stretch>
            <a:fillRect/>
          </a:stretch>
        </p:blipFill>
        <p:spPr>
          <a:xfrm>
            <a:off x="1188720" y="3354445"/>
            <a:ext cx="9626418" cy="329213"/>
          </a:xfrm>
          <a:prstGeom prst="rect">
            <a:avLst/>
          </a:prstGeom>
        </p:spPr>
      </p:pic>
      <p:pic>
        <p:nvPicPr>
          <p:cNvPr id="14" name="Picture 13">
            <a:extLst>
              <a:ext uri="{FF2B5EF4-FFF2-40B4-BE49-F238E27FC236}">
                <a16:creationId xmlns:a16="http://schemas.microsoft.com/office/drawing/2014/main" id="{F3B151CA-1A79-4C96-168A-ABA6B2E0641D}"/>
              </a:ext>
            </a:extLst>
          </p:cNvPr>
          <p:cNvPicPr>
            <a:picLocks noChangeAspect="1"/>
          </p:cNvPicPr>
          <p:nvPr/>
        </p:nvPicPr>
        <p:blipFill>
          <a:blip r:embed="rId2"/>
          <a:stretch>
            <a:fillRect/>
          </a:stretch>
        </p:blipFill>
        <p:spPr>
          <a:xfrm>
            <a:off x="1168582" y="3983477"/>
            <a:ext cx="9626418" cy="329213"/>
          </a:xfrm>
          <a:prstGeom prst="rect">
            <a:avLst/>
          </a:prstGeom>
        </p:spPr>
      </p:pic>
      <p:pic>
        <p:nvPicPr>
          <p:cNvPr id="16" name="Picture 15">
            <a:extLst>
              <a:ext uri="{FF2B5EF4-FFF2-40B4-BE49-F238E27FC236}">
                <a16:creationId xmlns:a16="http://schemas.microsoft.com/office/drawing/2014/main" id="{4B32C265-DC4F-C098-CF9E-5483F346C1D0}"/>
              </a:ext>
            </a:extLst>
          </p:cNvPr>
          <p:cNvPicPr>
            <a:picLocks noChangeAspect="1"/>
          </p:cNvPicPr>
          <p:nvPr/>
        </p:nvPicPr>
        <p:blipFill>
          <a:blip r:embed="rId2"/>
          <a:stretch>
            <a:fillRect/>
          </a:stretch>
        </p:blipFill>
        <p:spPr>
          <a:xfrm>
            <a:off x="1163502" y="4588675"/>
            <a:ext cx="9626418" cy="329213"/>
          </a:xfrm>
          <a:prstGeom prst="rect">
            <a:avLst/>
          </a:prstGeom>
        </p:spPr>
      </p:pic>
      <p:pic>
        <p:nvPicPr>
          <p:cNvPr id="18" name="Picture 17">
            <a:extLst>
              <a:ext uri="{FF2B5EF4-FFF2-40B4-BE49-F238E27FC236}">
                <a16:creationId xmlns:a16="http://schemas.microsoft.com/office/drawing/2014/main" id="{EE16A701-8F7C-40C1-2D98-3D59364CD5AA}"/>
              </a:ext>
            </a:extLst>
          </p:cNvPr>
          <p:cNvPicPr>
            <a:picLocks noChangeAspect="1"/>
          </p:cNvPicPr>
          <p:nvPr/>
        </p:nvPicPr>
        <p:blipFill>
          <a:blip r:embed="rId2"/>
          <a:stretch>
            <a:fillRect/>
          </a:stretch>
        </p:blipFill>
        <p:spPr>
          <a:xfrm>
            <a:off x="1163502" y="5193873"/>
            <a:ext cx="9626418" cy="329213"/>
          </a:xfrm>
          <a:prstGeom prst="rect">
            <a:avLst/>
          </a:prstGeom>
        </p:spPr>
      </p:pic>
      <p:cxnSp>
        <p:nvCxnSpPr>
          <p:cNvPr id="19" name="Straight Arrow Connector 18">
            <a:extLst>
              <a:ext uri="{FF2B5EF4-FFF2-40B4-BE49-F238E27FC236}">
                <a16:creationId xmlns:a16="http://schemas.microsoft.com/office/drawing/2014/main" id="{130D2BEE-9950-C4EE-04F3-ADE65F762EAC}"/>
              </a:ext>
            </a:extLst>
          </p:cNvPr>
          <p:cNvCxnSpPr>
            <a:cxnSpLocks/>
          </p:cNvCxnSpPr>
          <p:nvPr/>
        </p:nvCxnSpPr>
        <p:spPr>
          <a:xfrm>
            <a:off x="6001929" y="3054626"/>
            <a:ext cx="0" cy="304221"/>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20" name="Straight Arrow Connector 19">
            <a:extLst>
              <a:ext uri="{FF2B5EF4-FFF2-40B4-BE49-F238E27FC236}">
                <a16:creationId xmlns:a16="http://schemas.microsoft.com/office/drawing/2014/main" id="{D025E6C7-E950-7353-5FD1-0B2ED856480F}"/>
              </a:ext>
            </a:extLst>
          </p:cNvPr>
          <p:cNvCxnSpPr>
            <a:cxnSpLocks/>
          </p:cNvCxnSpPr>
          <p:nvPr/>
        </p:nvCxnSpPr>
        <p:spPr>
          <a:xfrm>
            <a:off x="6001929" y="3683658"/>
            <a:ext cx="0" cy="304221"/>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21" name="Straight Arrow Connector 20">
            <a:extLst>
              <a:ext uri="{FF2B5EF4-FFF2-40B4-BE49-F238E27FC236}">
                <a16:creationId xmlns:a16="http://schemas.microsoft.com/office/drawing/2014/main" id="{09F99526-2739-99E4-73B2-4C182A76262C}"/>
              </a:ext>
            </a:extLst>
          </p:cNvPr>
          <p:cNvCxnSpPr>
            <a:cxnSpLocks/>
          </p:cNvCxnSpPr>
          <p:nvPr/>
        </p:nvCxnSpPr>
        <p:spPr>
          <a:xfrm>
            <a:off x="6001929" y="4312690"/>
            <a:ext cx="0" cy="304221"/>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22" name="Straight Arrow Connector 21">
            <a:extLst>
              <a:ext uri="{FF2B5EF4-FFF2-40B4-BE49-F238E27FC236}">
                <a16:creationId xmlns:a16="http://schemas.microsoft.com/office/drawing/2014/main" id="{0B54B913-10C0-A843-BB23-06AEC391DB19}"/>
              </a:ext>
            </a:extLst>
          </p:cNvPr>
          <p:cNvCxnSpPr>
            <a:cxnSpLocks/>
          </p:cNvCxnSpPr>
          <p:nvPr/>
        </p:nvCxnSpPr>
        <p:spPr>
          <a:xfrm>
            <a:off x="6001929" y="4917888"/>
            <a:ext cx="0" cy="304221"/>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28" name="TextBox 27">
            <a:extLst>
              <a:ext uri="{FF2B5EF4-FFF2-40B4-BE49-F238E27FC236}">
                <a16:creationId xmlns:a16="http://schemas.microsoft.com/office/drawing/2014/main" id="{9534E5B8-B1E0-7329-2D3A-899807E1A59E}"/>
              </a:ext>
            </a:extLst>
          </p:cNvPr>
          <p:cNvSpPr txBox="1"/>
          <p:nvPr/>
        </p:nvSpPr>
        <p:spPr>
          <a:xfrm>
            <a:off x="4902200" y="3340722"/>
            <a:ext cx="2336797" cy="369332"/>
          </a:xfrm>
          <a:prstGeom prst="rect">
            <a:avLst/>
          </a:prstGeom>
          <a:noFill/>
        </p:spPr>
        <p:txBody>
          <a:bodyPr wrap="square">
            <a:spAutoFit/>
          </a:bodyPr>
          <a:lstStyle/>
          <a:p>
            <a:r>
              <a:rPr lang="en-IN" dirty="0">
                <a:solidFill>
                  <a:schemeClr val="bg1"/>
                </a:solidFill>
              </a:rPr>
              <a:t>CNN Model Analysis</a:t>
            </a:r>
          </a:p>
        </p:txBody>
      </p:sp>
      <p:sp>
        <p:nvSpPr>
          <p:cNvPr id="30" name="TextBox 29">
            <a:extLst>
              <a:ext uri="{FF2B5EF4-FFF2-40B4-BE49-F238E27FC236}">
                <a16:creationId xmlns:a16="http://schemas.microsoft.com/office/drawing/2014/main" id="{69C3BB3A-2B88-32D6-2F9D-275AAA0C808F}"/>
              </a:ext>
            </a:extLst>
          </p:cNvPr>
          <p:cNvSpPr txBox="1"/>
          <p:nvPr/>
        </p:nvSpPr>
        <p:spPr>
          <a:xfrm>
            <a:off x="4653280" y="3965670"/>
            <a:ext cx="6101080" cy="369332"/>
          </a:xfrm>
          <a:prstGeom prst="rect">
            <a:avLst/>
          </a:prstGeom>
          <a:noFill/>
        </p:spPr>
        <p:txBody>
          <a:bodyPr wrap="square">
            <a:spAutoFit/>
          </a:bodyPr>
          <a:lstStyle/>
          <a:p>
            <a:r>
              <a:rPr lang="en-IN" dirty="0">
                <a:solidFill>
                  <a:schemeClr val="bg1"/>
                </a:solidFill>
              </a:rPr>
              <a:t>Waste Category Prediction</a:t>
            </a:r>
          </a:p>
        </p:txBody>
      </p:sp>
      <p:sp>
        <p:nvSpPr>
          <p:cNvPr id="32" name="TextBox 31">
            <a:extLst>
              <a:ext uri="{FF2B5EF4-FFF2-40B4-BE49-F238E27FC236}">
                <a16:creationId xmlns:a16="http://schemas.microsoft.com/office/drawing/2014/main" id="{CF3FE3A0-202C-F281-E4F2-C11D4E8211B1}"/>
              </a:ext>
            </a:extLst>
          </p:cNvPr>
          <p:cNvSpPr txBox="1"/>
          <p:nvPr/>
        </p:nvSpPr>
        <p:spPr>
          <a:xfrm>
            <a:off x="4419600" y="4568615"/>
            <a:ext cx="6101080" cy="369332"/>
          </a:xfrm>
          <a:prstGeom prst="rect">
            <a:avLst/>
          </a:prstGeom>
          <a:noFill/>
        </p:spPr>
        <p:txBody>
          <a:bodyPr wrap="square">
            <a:spAutoFit/>
          </a:bodyPr>
          <a:lstStyle/>
          <a:p>
            <a:r>
              <a:rPr lang="en-IN" dirty="0">
                <a:solidFill>
                  <a:schemeClr val="bg1"/>
                </a:solidFill>
              </a:rPr>
              <a:t>Recycling Information Retrieval </a:t>
            </a:r>
          </a:p>
        </p:txBody>
      </p:sp>
      <p:sp>
        <p:nvSpPr>
          <p:cNvPr id="34" name="TextBox 33">
            <a:extLst>
              <a:ext uri="{FF2B5EF4-FFF2-40B4-BE49-F238E27FC236}">
                <a16:creationId xmlns:a16="http://schemas.microsoft.com/office/drawing/2014/main" id="{C34975B2-8C30-9F43-5DE7-F2F0CB36FF35}"/>
              </a:ext>
            </a:extLst>
          </p:cNvPr>
          <p:cNvSpPr txBox="1"/>
          <p:nvPr/>
        </p:nvSpPr>
        <p:spPr>
          <a:xfrm>
            <a:off x="4417771" y="5171560"/>
            <a:ext cx="3657600" cy="369332"/>
          </a:xfrm>
          <a:prstGeom prst="rect">
            <a:avLst/>
          </a:prstGeom>
          <a:noFill/>
        </p:spPr>
        <p:txBody>
          <a:bodyPr wrap="square">
            <a:spAutoFit/>
          </a:bodyPr>
          <a:lstStyle/>
          <a:p>
            <a:r>
              <a:rPr lang="en-IN" dirty="0">
                <a:solidFill>
                  <a:schemeClr val="bg1"/>
                </a:solidFill>
              </a:rPr>
              <a:t>Display Result and Recycling Tip</a:t>
            </a:r>
          </a:p>
        </p:txBody>
      </p:sp>
      <p:sp>
        <p:nvSpPr>
          <p:cNvPr id="36" name="TextBox 35">
            <a:extLst>
              <a:ext uri="{FF2B5EF4-FFF2-40B4-BE49-F238E27FC236}">
                <a16:creationId xmlns:a16="http://schemas.microsoft.com/office/drawing/2014/main" id="{90ABC253-0C09-82A1-DD78-6D6A51076962}"/>
              </a:ext>
            </a:extLst>
          </p:cNvPr>
          <p:cNvSpPr txBox="1"/>
          <p:nvPr/>
        </p:nvSpPr>
        <p:spPr>
          <a:xfrm>
            <a:off x="188671" y="5540892"/>
            <a:ext cx="12115800" cy="1323439"/>
          </a:xfrm>
          <a:prstGeom prst="rect">
            <a:avLst/>
          </a:prstGeom>
          <a:noFill/>
        </p:spPr>
        <p:txBody>
          <a:bodyPr wrap="square">
            <a:spAutoFit/>
          </a:bodyPr>
          <a:lstStyle/>
          <a:p>
            <a:r>
              <a:rPr lang="en-IN" sz="2000" dirty="0"/>
              <a:t>The uploaded image is first </a:t>
            </a:r>
            <a:r>
              <a:rPr lang="en-IN" sz="2000" dirty="0" err="1"/>
              <a:t>preprocessed</a:t>
            </a:r>
            <a:r>
              <a:rPr lang="en-IN" sz="2000" dirty="0"/>
              <a:t> and resized according to the model requirements. The trained CNN model then extracts image features and predicts the waste category. Based on the prediction, the system retrieves relevant recycling information and displays the category, disposal method, and recycling tips to the user.</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67055" rIns="0" bIns="0" rtlCol="0">
            <a:spAutoFit/>
          </a:bodyPr>
          <a:lstStyle/>
          <a:p>
            <a:pPr marL="12700">
              <a:lnSpc>
                <a:spcPct val="100000"/>
              </a:lnSpc>
              <a:spcBef>
                <a:spcPts val="105"/>
              </a:spcBef>
            </a:pPr>
            <a:r>
              <a:rPr dirty="0"/>
              <a:t>Technology</a:t>
            </a:r>
            <a:r>
              <a:rPr spc="-70" dirty="0"/>
              <a:t> </a:t>
            </a:r>
            <a:r>
              <a:rPr spc="-10" dirty="0"/>
              <a:t>Stack</a:t>
            </a:r>
          </a:p>
        </p:txBody>
      </p:sp>
      <p:sp>
        <p:nvSpPr>
          <p:cNvPr id="4" name="TextBox 3">
            <a:extLst>
              <a:ext uri="{FF2B5EF4-FFF2-40B4-BE49-F238E27FC236}">
                <a16:creationId xmlns:a16="http://schemas.microsoft.com/office/drawing/2014/main" id="{A4C38CEE-F88F-3652-CAE2-AE615134B11F}"/>
              </a:ext>
            </a:extLst>
          </p:cNvPr>
          <p:cNvSpPr txBox="1"/>
          <p:nvPr/>
        </p:nvSpPr>
        <p:spPr>
          <a:xfrm>
            <a:off x="381000" y="1329181"/>
            <a:ext cx="11811000" cy="5293757"/>
          </a:xfrm>
          <a:prstGeom prst="rect">
            <a:avLst/>
          </a:prstGeom>
          <a:noFill/>
        </p:spPr>
        <p:txBody>
          <a:bodyPr wrap="square">
            <a:spAutoFit/>
          </a:bodyPr>
          <a:lstStyle/>
          <a:p>
            <a:pPr>
              <a:buNone/>
            </a:pPr>
            <a:r>
              <a:rPr lang="en-IN" sz="2000" b="1" dirty="0"/>
              <a:t>Programming Language</a:t>
            </a:r>
            <a:endParaRPr lang="en-IN" sz="2000" dirty="0"/>
          </a:p>
          <a:p>
            <a:pPr>
              <a:buFont typeface="Arial" panose="020B0604020202020204" pitchFamily="34" charset="0"/>
              <a:buChar char="•"/>
            </a:pPr>
            <a:r>
              <a:rPr lang="en-IN" dirty="0"/>
              <a:t> Python </a:t>
            </a:r>
          </a:p>
          <a:p>
            <a:pPr>
              <a:buNone/>
            </a:pPr>
            <a:r>
              <a:rPr lang="en-IN" sz="2000" b="1" dirty="0"/>
              <a:t>Machine Learning Framework</a:t>
            </a:r>
            <a:endParaRPr lang="en-IN" sz="2000" dirty="0"/>
          </a:p>
          <a:p>
            <a:pPr>
              <a:buFont typeface="Arial" panose="020B0604020202020204" pitchFamily="34" charset="0"/>
              <a:buChar char="•"/>
            </a:pPr>
            <a:r>
              <a:rPr lang="en-IN" dirty="0"/>
              <a:t> TensorFlow </a:t>
            </a:r>
          </a:p>
          <a:p>
            <a:pPr>
              <a:buFont typeface="Arial" panose="020B0604020202020204" pitchFamily="34" charset="0"/>
              <a:buChar char="•"/>
            </a:pPr>
            <a:r>
              <a:rPr lang="en-IN" dirty="0"/>
              <a:t> </a:t>
            </a:r>
            <a:r>
              <a:rPr lang="en-IN" dirty="0" err="1"/>
              <a:t>Keras</a:t>
            </a:r>
            <a:r>
              <a:rPr lang="en-IN" dirty="0"/>
              <a:t> </a:t>
            </a:r>
          </a:p>
          <a:p>
            <a:pPr>
              <a:buNone/>
            </a:pPr>
            <a:r>
              <a:rPr lang="en-IN" sz="2000" b="1" dirty="0"/>
              <a:t>Web Application Framework</a:t>
            </a:r>
            <a:endParaRPr lang="en-IN" sz="2000" dirty="0"/>
          </a:p>
          <a:p>
            <a:pPr>
              <a:buFont typeface="Arial" panose="020B0604020202020204" pitchFamily="34" charset="0"/>
              <a:buChar char="•"/>
            </a:pPr>
            <a:r>
              <a:rPr lang="en-IN" dirty="0"/>
              <a:t> </a:t>
            </a:r>
            <a:r>
              <a:rPr lang="en-IN" dirty="0" err="1"/>
              <a:t>Streamlit</a:t>
            </a:r>
            <a:r>
              <a:rPr lang="en-IN" dirty="0"/>
              <a:t> </a:t>
            </a:r>
          </a:p>
          <a:p>
            <a:pPr>
              <a:buNone/>
            </a:pPr>
            <a:r>
              <a:rPr lang="en-IN" sz="2000" b="1" dirty="0"/>
              <a:t>Supporting Libraries</a:t>
            </a:r>
            <a:endParaRPr lang="en-IN" sz="2000" dirty="0"/>
          </a:p>
          <a:p>
            <a:pPr>
              <a:buFont typeface="Arial" panose="020B0604020202020204" pitchFamily="34" charset="0"/>
              <a:buChar char="•"/>
            </a:pPr>
            <a:r>
              <a:rPr lang="en-IN" dirty="0"/>
              <a:t> NumPy </a:t>
            </a:r>
          </a:p>
          <a:p>
            <a:pPr>
              <a:buFont typeface="Arial" panose="020B0604020202020204" pitchFamily="34" charset="0"/>
              <a:buChar char="•"/>
            </a:pPr>
            <a:r>
              <a:rPr lang="en-IN" dirty="0"/>
              <a:t> Pillow (PIL) </a:t>
            </a:r>
          </a:p>
          <a:p>
            <a:pPr>
              <a:buNone/>
            </a:pPr>
            <a:r>
              <a:rPr lang="en-IN" sz="2000" b="1" dirty="0"/>
              <a:t>Project Domains</a:t>
            </a:r>
            <a:endParaRPr lang="en-IN" sz="2000" dirty="0"/>
          </a:p>
          <a:p>
            <a:pPr>
              <a:buFont typeface="Arial" panose="020B0604020202020204" pitchFamily="34" charset="0"/>
              <a:buChar char="•"/>
            </a:pPr>
            <a:r>
              <a:rPr lang="en-IN" dirty="0"/>
              <a:t> Artificial Intelligence </a:t>
            </a:r>
          </a:p>
          <a:p>
            <a:pPr>
              <a:buFont typeface="Arial" panose="020B0604020202020204" pitchFamily="34" charset="0"/>
              <a:buChar char="•"/>
            </a:pPr>
            <a:r>
              <a:rPr lang="en-IN" dirty="0"/>
              <a:t> Computer Vision </a:t>
            </a:r>
          </a:p>
          <a:p>
            <a:pPr>
              <a:buFont typeface="Arial" panose="020B0604020202020204" pitchFamily="34" charset="0"/>
              <a:buChar char="•"/>
            </a:pPr>
            <a:r>
              <a:rPr lang="en-IN" dirty="0"/>
              <a:t> Sustainability </a:t>
            </a:r>
          </a:p>
          <a:p>
            <a:pPr>
              <a:buFont typeface="Arial" panose="020B0604020202020204" pitchFamily="34" charset="0"/>
              <a:buChar char="•"/>
            </a:pPr>
            <a:r>
              <a:rPr lang="en-IN" dirty="0"/>
              <a:t>Green Skills </a:t>
            </a:r>
          </a:p>
          <a:p>
            <a:pPr>
              <a:buFont typeface="Arial" panose="020B0604020202020204" pitchFamily="34" charset="0"/>
              <a:buChar char="•"/>
            </a:pPr>
            <a:endParaRPr lang="en-IN" dirty="0"/>
          </a:p>
          <a:p>
            <a:pPr>
              <a:buNone/>
            </a:pPr>
            <a:r>
              <a:rPr lang="en-IN" sz="2000" dirty="0"/>
              <a:t>These technologies were selected because they provide an efficient environment for building image classification applications.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67055" rIns="0" bIns="0" rtlCol="0">
            <a:spAutoFit/>
          </a:bodyPr>
          <a:lstStyle/>
          <a:p>
            <a:pPr marL="12700">
              <a:lnSpc>
                <a:spcPct val="100000"/>
              </a:lnSpc>
              <a:spcBef>
                <a:spcPts val="105"/>
              </a:spcBef>
            </a:pPr>
            <a:r>
              <a:rPr spc="-10" dirty="0"/>
              <a:t>Result/Outcomes</a:t>
            </a:r>
          </a:p>
        </p:txBody>
      </p:sp>
      <p:pic>
        <p:nvPicPr>
          <p:cNvPr id="12" name="Picture 11">
            <a:extLst>
              <a:ext uri="{FF2B5EF4-FFF2-40B4-BE49-F238E27FC236}">
                <a16:creationId xmlns:a16="http://schemas.microsoft.com/office/drawing/2014/main" id="{2A420F38-7D79-87D0-90D8-AEA162B80A1D}"/>
              </a:ext>
            </a:extLst>
          </p:cNvPr>
          <p:cNvPicPr>
            <a:picLocks noChangeAspect="1"/>
          </p:cNvPicPr>
          <p:nvPr/>
        </p:nvPicPr>
        <p:blipFill>
          <a:blip r:embed="rId2"/>
          <a:stretch>
            <a:fillRect/>
          </a:stretch>
        </p:blipFill>
        <p:spPr>
          <a:xfrm>
            <a:off x="214847" y="1329181"/>
            <a:ext cx="5865913" cy="5288026"/>
          </a:xfrm>
          <a:prstGeom prst="rect">
            <a:avLst/>
          </a:prstGeom>
        </p:spPr>
      </p:pic>
      <p:pic>
        <p:nvPicPr>
          <p:cNvPr id="20" name="Picture 19">
            <a:extLst>
              <a:ext uri="{FF2B5EF4-FFF2-40B4-BE49-F238E27FC236}">
                <a16:creationId xmlns:a16="http://schemas.microsoft.com/office/drawing/2014/main" id="{76EF7A1E-3DB2-49CD-F499-80A1E4706AFE}"/>
              </a:ext>
            </a:extLst>
          </p:cNvPr>
          <p:cNvPicPr>
            <a:picLocks noChangeAspect="1"/>
          </p:cNvPicPr>
          <p:nvPr/>
        </p:nvPicPr>
        <p:blipFill>
          <a:blip r:embed="rId3"/>
          <a:stretch>
            <a:fillRect/>
          </a:stretch>
        </p:blipFill>
        <p:spPr>
          <a:xfrm>
            <a:off x="6146735" y="1329181"/>
            <a:ext cx="5940201" cy="5288026"/>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4CC774-F1BD-5824-86FE-9A91148E5FA8}"/>
            </a:ext>
          </a:extLst>
        </p:cNvPr>
        <p:cNvGrpSpPr/>
        <p:nvPr/>
      </p:nvGrpSpPr>
      <p:grpSpPr>
        <a:xfrm>
          <a:off x="0" y="0"/>
          <a:ext cx="0" cy="0"/>
          <a:chOff x="0" y="0"/>
          <a:chExt cx="0" cy="0"/>
        </a:xfrm>
      </p:grpSpPr>
      <p:sp>
        <p:nvSpPr>
          <p:cNvPr id="2" name="object 2" descr="$PPTXTitle">
            <a:extLst>
              <a:ext uri="{FF2B5EF4-FFF2-40B4-BE49-F238E27FC236}">
                <a16:creationId xmlns:a16="http://schemas.microsoft.com/office/drawing/2014/main" id="{FA84289F-D01B-D82D-D9A7-E9C39425313D}"/>
              </a:ext>
            </a:extLst>
          </p:cNvPr>
          <p:cNvSpPr txBox="1">
            <a:spLocks noGrp="1"/>
          </p:cNvSpPr>
          <p:nvPr>
            <p:ph type="title"/>
          </p:nvPr>
        </p:nvSpPr>
        <p:spPr>
          <a:prstGeom prst="rect">
            <a:avLst/>
          </a:prstGeom>
        </p:spPr>
        <p:txBody>
          <a:bodyPr vert="horz" wrap="square" lIns="0" tIns="67055" rIns="0" bIns="0" rtlCol="0">
            <a:spAutoFit/>
          </a:bodyPr>
          <a:lstStyle/>
          <a:p>
            <a:pPr marL="12700">
              <a:lnSpc>
                <a:spcPct val="100000"/>
              </a:lnSpc>
              <a:spcBef>
                <a:spcPts val="105"/>
              </a:spcBef>
            </a:pPr>
            <a:r>
              <a:rPr spc="-10" dirty="0"/>
              <a:t>Result/Outcomes</a:t>
            </a:r>
          </a:p>
        </p:txBody>
      </p:sp>
      <p:sp>
        <p:nvSpPr>
          <p:cNvPr id="4" name="TextBox 3">
            <a:extLst>
              <a:ext uri="{FF2B5EF4-FFF2-40B4-BE49-F238E27FC236}">
                <a16:creationId xmlns:a16="http://schemas.microsoft.com/office/drawing/2014/main" id="{2FC52688-C06D-0CE7-C070-DE93786A7061}"/>
              </a:ext>
            </a:extLst>
          </p:cNvPr>
          <p:cNvSpPr txBox="1"/>
          <p:nvPr/>
        </p:nvSpPr>
        <p:spPr>
          <a:xfrm>
            <a:off x="301142" y="1329181"/>
            <a:ext cx="11890858" cy="923330"/>
          </a:xfrm>
          <a:prstGeom prst="rect">
            <a:avLst/>
          </a:prstGeom>
          <a:noFill/>
        </p:spPr>
        <p:txBody>
          <a:bodyPr wrap="square">
            <a:spAutoFit/>
          </a:bodyPr>
          <a:lstStyle/>
          <a:p>
            <a:r>
              <a:rPr lang="en-IN" dirty="0"/>
              <a:t>The Eco-Scan AI application was successfully developed and tested using different waste images. The trained CNN model was able to identify waste categories and provide appropriate disposal and recycling recommendations through the </a:t>
            </a:r>
            <a:r>
              <a:rPr lang="en-IN" dirty="0" err="1"/>
              <a:t>Streamlit</a:t>
            </a:r>
            <a:r>
              <a:rPr lang="en-IN" dirty="0"/>
              <a:t> web interface.</a:t>
            </a:r>
          </a:p>
        </p:txBody>
      </p:sp>
      <p:sp>
        <p:nvSpPr>
          <p:cNvPr id="6" name="TextBox 5">
            <a:extLst>
              <a:ext uri="{FF2B5EF4-FFF2-40B4-BE49-F238E27FC236}">
                <a16:creationId xmlns:a16="http://schemas.microsoft.com/office/drawing/2014/main" id="{6B1BC3DC-DCC8-B52F-1AEF-55D1A54F9478}"/>
              </a:ext>
            </a:extLst>
          </p:cNvPr>
          <p:cNvSpPr txBox="1"/>
          <p:nvPr/>
        </p:nvSpPr>
        <p:spPr>
          <a:xfrm>
            <a:off x="457200" y="2259662"/>
            <a:ext cx="11353800" cy="1754326"/>
          </a:xfrm>
          <a:prstGeom prst="rect">
            <a:avLst/>
          </a:prstGeom>
          <a:noFill/>
        </p:spPr>
        <p:txBody>
          <a:bodyPr wrap="square">
            <a:spAutoFit/>
          </a:bodyPr>
          <a:lstStyle/>
          <a:p>
            <a:pPr>
              <a:buNone/>
            </a:pPr>
            <a:r>
              <a:rPr lang="en-IN" b="1" dirty="0"/>
              <a:t>Key Outcomes</a:t>
            </a:r>
          </a:p>
          <a:p>
            <a:pPr>
              <a:buFont typeface="Arial" panose="020B0604020202020204" pitchFamily="34" charset="0"/>
              <a:buChar char="•"/>
            </a:pPr>
            <a:r>
              <a:rPr lang="en-IN" dirty="0"/>
              <a:t>Successfully classified different types of waste using image recognition. </a:t>
            </a:r>
          </a:p>
          <a:p>
            <a:pPr>
              <a:buFont typeface="Arial" panose="020B0604020202020204" pitchFamily="34" charset="0"/>
              <a:buChar char="•"/>
            </a:pPr>
            <a:r>
              <a:rPr lang="en-IN" dirty="0"/>
              <a:t>Provided suitable disposal bin recommendations. </a:t>
            </a:r>
          </a:p>
          <a:p>
            <a:pPr>
              <a:buFont typeface="Arial" panose="020B0604020202020204" pitchFamily="34" charset="0"/>
              <a:buChar char="•"/>
            </a:pPr>
            <a:r>
              <a:rPr lang="en-IN" dirty="0"/>
              <a:t>Displayed recycling tips for users. </a:t>
            </a:r>
          </a:p>
          <a:p>
            <a:pPr>
              <a:buFont typeface="Arial" panose="020B0604020202020204" pitchFamily="34" charset="0"/>
              <a:buChar char="•"/>
            </a:pPr>
            <a:r>
              <a:rPr lang="en-IN" dirty="0"/>
              <a:t>Developed a simple and user-friendly </a:t>
            </a:r>
            <a:r>
              <a:rPr lang="en-IN" dirty="0" err="1"/>
              <a:t>Streamlit</a:t>
            </a:r>
            <a:r>
              <a:rPr lang="en-IN" dirty="0"/>
              <a:t> application. </a:t>
            </a:r>
          </a:p>
          <a:p>
            <a:pPr>
              <a:buFont typeface="Arial" panose="020B0604020202020204" pitchFamily="34" charset="0"/>
              <a:buChar char="•"/>
            </a:pPr>
            <a:r>
              <a:rPr lang="en-IN" dirty="0"/>
              <a:t>Promoted awareness about proper waste segregation and recycling.</a:t>
            </a:r>
          </a:p>
        </p:txBody>
      </p:sp>
      <p:sp>
        <p:nvSpPr>
          <p:cNvPr id="8" name="TextBox 7">
            <a:extLst>
              <a:ext uri="{FF2B5EF4-FFF2-40B4-BE49-F238E27FC236}">
                <a16:creationId xmlns:a16="http://schemas.microsoft.com/office/drawing/2014/main" id="{94714984-483D-D4BF-6924-EC57E7CBDD7D}"/>
              </a:ext>
            </a:extLst>
          </p:cNvPr>
          <p:cNvSpPr txBox="1"/>
          <p:nvPr/>
        </p:nvSpPr>
        <p:spPr>
          <a:xfrm>
            <a:off x="472440" y="4013988"/>
            <a:ext cx="8001000" cy="2862322"/>
          </a:xfrm>
          <a:prstGeom prst="rect">
            <a:avLst/>
          </a:prstGeom>
          <a:noFill/>
        </p:spPr>
        <p:txBody>
          <a:bodyPr wrap="square">
            <a:spAutoFit/>
          </a:bodyPr>
          <a:lstStyle/>
          <a:p>
            <a:pPr>
              <a:buNone/>
            </a:pPr>
            <a:r>
              <a:rPr lang="en-IN" b="1" dirty="0"/>
              <a:t>Sample Results</a:t>
            </a:r>
          </a:p>
          <a:p>
            <a:pPr>
              <a:buNone/>
            </a:pPr>
            <a:r>
              <a:rPr lang="en-IN" b="1" dirty="0"/>
              <a:t>Paper Waste</a:t>
            </a:r>
            <a:endParaRPr lang="en-IN" dirty="0"/>
          </a:p>
          <a:p>
            <a:pPr>
              <a:buFont typeface="Arial" panose="020B0604020202020204" pitchFamily="34" charset="0"/>
              <a:buChar char="•"/>
            </a:pPr>
            <a:r>
              <a:rPr lang="en-IN" dirty="0"/>
              <a:t>Predicted Category: Paper </a:t>
            </a:r>
          </a:p>
          <a:p>
            <a:pPr>
              <a:buFont typeface="Arial" panose="020B0604020202020204" pitchFamily="34" charset="0"/>
              <a:buChar char="•"/>
            </a:pPr>
            <a:r>
              <a:rPr lang="en-IN" dirty="0"/>
              <a:t>Disposal Bin: Blue Bin </a:t>
            </a:r>
          </a:p>
          <a:p>
            <a:pPr>
              <a:buFont typeface="Arial" panose="020B0604020202020204" pitchFamily="34" charset="0"/>
              <a:buChar char="•"/>
            </a:pPr>
            <a:r>
              <a:rPr lang="en-IN" dirty="0"/>
              <a:t>Confidence: 86.48%</a:t>
            </a:r>
          </a:p>
          <a:p>
            <a:r>
              <a:rPr lang="en-IN" dirty="0"/>
              <a:t> </a:t>
            </a:r>
          </a:p>
          <a:p>
            <a:r>
              <a:rPr lang="en-IN" b="1" dirty="0"/>
              <a:t>Textile Waste</a:t>
            </a:r>
            <a:endParaRPr lang="en-IN" dirty="0"/>
          </a:p>
          <a:p>
            <a:pPr>
              <a:buFont typeface="Arial" panose="020B0604020202020204" pitchFamily="34" charset="0"/>
              <a:buChar char="•"/>
            </a:pPr>
            <a:r>
              <a:rPr lang="en-IN" dirty="0"/>
              <a:t>Predicted Category: Clothes (Textile) </a:t>
            </a:r>
          </a:p>
          <a:p>
            <a:pPr>
              <a:buFont typeface="Arial" panose="020B0604020202020204" pitchFamily="34" charset="0"/>
              <a:buChar char="•"/>
            </a:pPr>
            <a:r>
              <a:rPr lang="en-IN" dirty="0"/>
              <a:t>Disposal Method: Cloth Donation </a:t>
            </a:r>
            <a:r>
              <a:rPr lang="en-IN" dirty="0" err="1"/>
              <a:t>Center</a:t>
            </a:r>
            <a:r>
              <a:rPr lang="en-IN" dirty="0"/>
              <a:t> </a:t>
            </a:r>
          </a:p>
          <a:p>
            <a:pPr>
              <a:buFont typeface="Arial" panose="020B0604020202020204" pitchFamily="34" charset="0"/>
              <a:buChar char="•"/>
            </a:pPr>
            <a:r>
              <a:rPr lang="en-IN" dirty="0"/>
              <a:t>Confidence: 98.86%</a:t>
            </a:r>
          </a:p>
        </p:txBody>
      </p:sp>
    </p:spTree>
    <p:extLst>
      <p:ext uri="{BB962C8B-B14F-4D97-AF65-F5344CB8AC3E}">
        <p14:creationId xmlns:p14="http://schemas.microsoft.com/office/powerpoint/2010/main" val="14079307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67055" rIns="0" bIns="0" rtlCol="0">
            <a:spAutoFit/>
          </a:bodyPr>
          <a:lstStyle/>
          <a:p>
            <a:pPr marL="12700">
              <a:lnSpc>
                <a:spcPct val="100000"/>
              </a:lnSpc>
              <a:spcBef>
                <a:spcPts val="105"/>
              </a:spcBef>
            </a:pPr>
            <a:r>
              <a:rPr spc="-10" dirty="0"/>
              <a:t>Conclusion</a:t>
            </a:r>
          </a:p>
        </p:txBody>
      </p:sp>
      <p:sp>
        <p:nvSpPr>
          <p:cNvPr id="4" name="TextBox 3">
            <a:extLst>
              <a:ext uri="{FF2B5EF4-FFF2-40B4-BE49-F238E27FC236}">
                <a16:creationId xmlns:a16="http://schemas.microsoft.com/office/drawing/2014/main" id="{5783AF46-26D1-6D5B-BEE2-6C3C684CA33E}"/>
              </a:ext>
            </a:extLst>
          </p:cNvPr>
          <p:cNvSpPr txBox="1"/>
          <p:nvPr/>
        </p:nvSpPr>
        <p:spPr>
          <a:xfrm>
            <a:off x="280822" y="1664514"/>
            <a:ext cx="11911178" cy="2215991"/>
          </a:xfrm>
          <a:prstGeom prst="rect">
            <a:avLst/>
          </a:prstGeom>
          <a:noFill/>
        </p:spPr>
        <p:txBody>
          <a:bodyPr wrap="square">
            <a:spAutoFit/>
          </a:bodyPr>
          <a:lstStyle/>
          <a:p>
            <a:pPr>
              <a:buNone/>
            </a:pPr>
            <a:r>
              <a:rPr lang="en-IN" sz="2000" dirty="0"/>
              <a:t>Eco-Scan AI demonstrates how Artificial Intelligence and Computer Vision can be applied to address environmental challenges. The system helps users identify waste items, understand proper disposal methods, and encourage responsible recycling practices.</a:t>
            </a:r>
          </a:p>
          <a:p>
            <a:pPr>
              <a:buNone/>
            </a:pPr>
            <a:endParaRPr lang="en-IN" dirty="0"/>
          </a:p>
          <a:p>
            <a:pPr>
              <a:buNone/>
            </a:pPr>
            <a:r>
              <a:rPr lang="en-IN" sz="2000" dirty="0"/>
              <a:t>The project not only showcases the practical use of machine learning but also supports the goal of creating a cleaner and more sustainable environment. Through this project, we explored the use of AI for solving real-world problems related to waste management and sustainability</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67055" rIns="0" bIns="0" rtlCol="0">
            <a:spAutoFit/>
          </a:bodyPr>
          <a:lstStyle/>
          <a:p>
            <a:pPr marL="12700">
              <a:lnSpc>
                <a:spcPct val="100000"/>
              </a:lnSpc>
              <a:spcBef>
                <a:spcPts val="105"/>
              </a:spcBef>
            </a:pPr>
            <a:r>
              <a:rPr dirty="0"/>
              <a:t>Future</a:t>
            </a:r>
            <a:r>
              <a:rPr spc="-40" dirty="0"/>
              <a:t> </a:t>
            </a:r>
            <a:r>
              <a:rPr spc="-10" dirty="0"/>
              <a:t>Perspective</a:t>
            </a:r>
          </a:p>
        </p:txBody>
      </p:sp>
      <p:sp>
        <p:nvSpPr>
          <p:cNvPr id="4" name="TextBox 3">
            <a:extLst>
              <a:ext uri="{FF2B5EF4-FFF2-40B4-BE49-F238E27FC236}">
                <a16:creationId xmlns:a16="http://schemas.microsoft.com/office/drawing/2014/main" id="{29F1E1EB-0FBB-6750-6FC3-F790C0434A42}"/>
              </a:ext>
            </a:extLst>
          </p:cNvPr>
          <p:cNvSpPr txBox="1"/>
          <p:nvPr/>
        </p:nvSpPr>
        <p:spPr>
          <a:xfrm>
            <a:off x="381000" y="1438761"/>
            <a:ext cx="11734800" cy="4924425"/>
          </a:xfrm>
          <a:prstGeom prst="rect">
            <a:avLst/>
          </a:prstGeom>
          <a:noFill/>
        </p:spPr>
        <p:txBody>
          <a:bodyPr wrap="square">
            <a:spAutoFit/>
          </a:bodyPr>
          <a:lstStyle/>
          <a:p>
            <a:pPr>
              <a:buNone/>
            </a:pPr>
            <a:r>
              <a:rPr lang="en-IN" sz="2000" dirty="0"/>
              <a:t>Although the current system successfully classifies waste through uploaded images, there are several opportunities for future enhancement like</a:t>
            </a:r>
          </a:p>
          <a:p>
            <a:pPr>
              <a:buNone/>
            </a:pPr>
            <a:endParaRPr lang="en-IN" dirty="0"/>
          </a:p>
          <a:p>
            <a:pPr>
              <a:buFont typeface="Arial" panose="020B0604020202020204" pitchFamily="34" charset="0"/>
              <a:buChar char="•"/>
            </a:pPr>
            <a:r>
              <a:rPr lang="en-IN" dirty="0"/>
              <a:t>Development of a mobile application for wider accessibility.</a:t>
            </a:r>
          </a:p>
          <a:p>
            <a:r>
              <a:rPr lang="en-IN" dirty="0"/>
              <a:t> </a:t>
            </a:r>
          </a:p>
          <a:p>
            <a:pPr>
              <a:buFont typeface="Arial" panose="020B0604020202020204" pitchFamily="34" charset="0"/>
              <a:buChar char="•"/>
            </a:pPr>
            <a:r>
              <a:rPr lang="en-IN" dirty="0"/>
              <a:t>Integration of real-time camera-based waste detection.</a:t>
            </a:r>
          </a:p>
          <a:p>
            <a:r>
              <a:rPr lang="en-IN" dirty="0"/>
              <a:t> </a:t>
            </a:r>
          </a:p>
          <a:p>
            <a:pPr>
              <a:buFont typeface="Arial" panose="020B0604020202020204" pitchFamily="34" charset="0"/>
              <a:buChar char="•"/>
            </a:pPr>
            <a:r>
              <a:rPr lang="en-IN" dirty="0"/>
              <a:t>Support for additional waste categories and larger datasets.</a:t>
            </a:r>
          </a:p>
          <a:p>
            <a:r>
              <a:rPr lang="en-IN" dirty="0"/>
              <a:t> </a:t>
            </a:r>
          </a:p>
          <a:p>
            <a:pPr>
              <a:buFont typeface="Arial" panose="020B0604020202020204" pitchFamily="34" charset="0"/>
              <a:buChar char="•"/>
            </a:pPr>
            <a:r>
              <a:rPr lang="en-IN" dirty="0"/>
              <a:t>Integration with IoT-enabled smart waste bins.</a:t>
            </a:r>
          </a:p>
          <a:p>
            <a:r>
              <a:rPr lang="en-IN" dirty="0"/>
              <a:t> </a:t>
            </a:r>
          </a:p>
          <a:p>
            <a:pPr>
              <a:buFont typeface="Arial" panose="020B0604020202020204" pitchFamily="34" charset="0"/>
              <a:buChar char="•"/>
            </a:pPr>
            <a:r>
              <a:rPr lang="en-IN" dirty="0"/>
              <a:t>Multi-language support for users from different regions.</a:t>
            </a:r>
          </a:p>
          <a:p>
            <a:r>
              <a:rPr lang="en-IN" dirty="0"/>
              <a:t> </a:t>
            </a:r>
          </a:p>
          <a:p>
            <a:pPr>
              <a:buFont typeface="Arial" panose="020B0604020202020204" pitchFamily="34" charset="0"/>
              <a:buChar char="•"/>
            </a:pPr>
            <a:r>
              <a:rPr lang="en-IN" dirty="0"/>
              <a:t>Cloud-based deployment for large-scale usage.</a:t>
            </a:r>
          </a:p>
          <a:p>
            <a:r>
              <a:rPr lang="en-IN" dirty="0"/>
              <a:t> </a:t>
            </a:r>
          </a:p>
          <a:p>
            <a:pPr>
              <a:buNone/>
            </a:pPr>
            <a:r>
              <a:rPr lang="en-IN" sz="2000" dirty="0"/>
              <a:t>These improvements can make the system more efficient, scalable, and useful for practical implementation in smart cities and environmental projects.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4419600" y="1080369"/>
            <a:ext cx="3270885" cy="788670"/>
          </a:xfrm>
          <a:prstGeom prst="rect">
            <a:avLst/>
          </a:prstGeom>
        </p:spPr>
        <p:txBody>
          <a:bodyPr vert="horz" wrap="square" lIns="0" tIns="13335" rIns="0" bIns="0" rtlCol="0">
            <a:spAutoFit/>
          </a:bodyPr>
          <a:lstStyle/>
          <a:p>
            <a:pPr marL="12700">
              <a:lnSpc>
                <a:spcPct val="100000"/>
              </a:lnSpc>
              <a:spcBef>
                <a:spcPts val="105"/>
              </a:spcBef>
            </a:pPr>
            <a:r>
              <a:rPr sz="5000" dirty="0"/>
              <a:t>Thank</a:t>
            </a:r>
            <a:r>
              <a:rPr sz="5000" spc="-55" dirty="0"/>
              <a:t> </a:t>
            </a:r>
            <a:r>
              <a:rPr sz="5000" spc="-25" dirty="0"/>
              <a:t>You</a:t>
            </a:r>
            <a:endParaRPr sz="5000" dirty="0"/>
          </a:p>
        </p:txBody>
      </p:sp>
      <p:sp>
        <p:nvSpPr>
          <p:cNvPr id="3" name="object 3"/>
          <p:cNvSpPr txBox="1"/>
          <p:nvPr/>
        </p:nvSpPr>
        <p:spPr>
          <a:xfrm>
            <a:off x="15558" y="5029200"/>
            <a:ext cx="4154804" cy="1379224"/>
          </a:xfrm>
          <a:prstGeom prst="rect">
            <a:avLst/>
          </a:prstGeom>
        </p:spPr>
        <p:txBody>
          <a:bodyPr vert="horz" wrap="square" lIns="0" tIns="12065" rIns="0" bIns="0" rtlCol="0">
            <a:spAutoFit/>
          </a:bodyPr>
          <a:lstStyle/>
          <a:p>
            <a:pPr marL="12700">
              <a:lnSpc>
                <a:spcPct val="100000"/>
              </a:lnSpc>
              <a:spcBef>
                <a:spcPts val="95"/>
              </a:spcBef>
            </a:pPr>
            <a:r>
              <a:rPr sz="2800" b="1" dirty="0" err="1">
                <a:solidFill>
                  <a:srgbClr val="203062"/>
                </a:solidFill>
                <a:latin typeface="Arial"/>
                <a:cs typeface="Arial"/>
              </a:rPr>
              <a:t>Github</a:t>
            </a:r>
            <a:r>
              <a:rPr sz="2800" b="1" spc="-80" dirty="0">
                <a:solidFill>
                  <a:srgbClr val="203062"/>
                </a:solidFill>
                <a:latin typeface="Arial"/>
                <a:cs typeface="Arial"/>
              </a:rPr>
              <a:t> </a:t>
            </a:r>
            <a:r>
              <a:rPr sz="2800" b="1" spc="-20" dirty="0">
                <a:solidFill>
                  <a:srgbClr val="203062"/>
                </a:solidFill>
                <a:latin typeface="Arial"/>
                <a:cs typeface="Arial"/>
              </a:rPr>
              <a:t>link</a:t>
            </a:r>
            <a:r>
              <a:rPr lang="en-US" sz="2800" b="1" spc="-20" dirty="0">
                <a:solidFill>
                  <a:srgbClr val="203062"/>
                </a:solidFill>
                <a:latin typeface="Arial"/>
                <a:cs typeface="Arial"/>
              </a:rPr>
              <a:t> </a:t>
            </a:r>
          </a:p>
          <a:p>
            <a:pPr marL="12700">
              <a:lnSpc>
                <a:spcPct val="100000"/>
              </a:lnSpc>
              <a:spcBef>
                <a:spcPts val="95"/>
              </a:spcBef>
            </a:pPr>
            <a:r>
              <a:rPr lang="en-IN" sz="2000" dirty="0">
                <a:latin typeface="Arial"/>
                <a:cs typeface="Arial"/>
                <a:hlinkClick r:id="rId2"/>
              </a:rPr>
              <a:t>https://github.com/PANDYA-RISHI2005/Edunet_Internship_capstone_project</a:t>
            </a:r>
            <a:endParaRPr sz="2000" dirty="0">
              <a:latin typeface="Arial"/>
              <a:cs typeface="Arial"/>
            </a:endParaRPr>
          </a:p>
        </p:txBody>
      </p:sp>
      <p:sp>
        <p:nvSpPr>
          <p:cNvPr id="4" name="object 4"/>
          <p:cNvSpPr txBox="1"/>
          <p:nvPr/>
        </p:nvSpPr>
        <p:spPr>
          <a:xfrm>
            <a:off x="8082916" y="5029200"/>
            <a:ext cx="4154804" cy="452120"/>
          </a:xfrm>
          <a:prstGeom prst="rect">
            <a:avLst/>
          </a:prstGeom>
        </p:spPr>
        <p:txBody>
          <a:bodyPr vert="horz" wrap="square" lIns="0" tIns="12065" rIns="0" bIns="0" rtlCol="0">
            <a:spAutoFit/>
          </a:bodyPr>
          <a:lstStyle/>
          <a:p>
            <a:pPr marL="12700">
              <a:lnSpc>
                <a:spcPct val="100000"/>
              </a:lnSpc>
              <a:spcBef>
                <a:spcPts val="95"/>
              </a:spcBef>
            </a:pPr>
            <a:r>
              <a:rPr sz="2800" b="1" dirty="0">
                <a:solidFill>
                  <a:srgbClr val="203062"/>
                </a:solidFill>
                <a:latin typeface="Arial"/>
                <a:cs typeface="Arial"/>
              </a:rPr>
              <a:t>Video</a:t>
            </a:r>
            <a:r>
              <a:rPr sz="2800" b="1" spc="-90" dirty="0">
                <a:solidFill>
                  <a:srgbClr val="203062"/>
                </a:solidFill>
                <a:latin typeface="Arial"/>
                <a:cs typeface="Arial"/>
              </a:rPr>
              <a:t> </a:t>
            </a:r>
            <a:r>
              <a:rPr sz="2800" b="1" dirty="0">
                <a:solidFill>
                  <a:srgbClr val="203062"/>
                </a:solidFill>
                <a:latin typeface="Arial"/>
                <a:cs typeface="Arial"/>
              </a:rPr>
              <a:t>(google</a:t>
            </a:r>
            <a:r>
              <a:rPr sz="2800" b="1" spc="-75" dirty="0">
                <a:solidFill>
                  <a:srgbClr val="203062"/>
                </a:solidFill>
                <a:latin typeface="Arial"/>
                <a:cs typeface="Arial"/>
              </a:rPr>
              <a:t> </a:t>
            </a:r>
            <a:r>
              <a:rPr sz="2800" b="1" dirty="0">
                <a:solidFill>
                  <a:srgbClr val="203062"/>
                </a:solidFill>
                <a:latin typeface="Arial"/>
                <a:cs typeface="Arial"/>
              </a:rPr>
              <a:t>drive</a:t>
            </a:r>
            <a:r>
              <a:rPr sz="2800" b="1" spc="-80" dirty="0">
                <a:solidFill>
                  <a:srgbClr val="203062"/>
                </a:solidFill>
                <a:latin typeface="Arial"/>
                <a:cs typeface="Arial"/>
              </a:rPr>
              <a:t> </a:t>
            </a:r>
            <a:r>
              <a:rPr sz="2800" b="1" spc="-10" dirty="0">
                <a:solidFill>
                  <a:srgbClr val="203062"/>
                </a:solidFill>
                <a:latin typeface="Arial"/>
                <a:cs typeface="Arial"/>
              </a:rPr>
              <a:t>link)</a:t>
            </a:r>
            <a:endParaRPr sz="2800" dirty="0">
              <a:latin typeface="Arial"/>
              <a:cs typeface="Arial"/>
            </a:endParaRPr>
          </a:p>
        </p:txBody>
      </p:sp>
      <p:sp>
        <p:nvSpPr>
          <p:cNvPr id="6" name="TextBox 5">
            <a:extLst>
              <a:ext uri="{FF2B5EF4-FFF2-40B4-BE49-F238E27FC236}">
                <a16:creationId xmlns:a16="http://schemas.microsoft.com/office/drawing/2014/main" id="{D9C2F922-AC20-4B15-AD86-9502171F8388}"/>
              </a:ext>
            </a:extLst>
          </p:cNvPr>
          <p:cNvSpPr txBox="1"/>
          <p:nvPr/>
        </p:nvSpPr>
        <p:spPr>
          <a:xfrm>
            <a:off x="6055042" y="5481320"/>
            <a:ext cx="6299200" cy="646331"/>
          </a:xfrm>
          <a:prstGeom prst="rect">
            <a:avLst/>
          </a:prstGeom>
          <a:noFill/>
        </p:spPr>
        <p:txBody>
          <a:bodyPr wrap="square">
            <a:spAutoFit/>
          </a:bodyPr>
          <a:lstStyle/>
          <a:p>
            <a:r>
              <a:rPr lang="en-IN" dirty="0">
                <a:hlinkClick r:id="rId3"/>
              </a:rPr>
              <a:t>https://drive.google.com/file/d/1alaFDsMyod0vxBIcMU9A8aqgwpPnFyqi/view?usp=drivesdk</a:t>
            </a:r>
            <a:endParaRPr lang="en-IN"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89</TotalTime>
  <Words>922</Words>
  <Application>Microsoft Office PowerPoint</Application>
  <PresentationFormat>Widescreen</PresentationFormat>
  <Paragraphs>124</Paragraphs>
  <Slides>13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Arial MT</vt:lpstr>
      <vt:lpstr>Calibri</vt:lpstr>
      <vt:lpstr>Office Theme</vt:lpstr>
      <vt:lpstr>Eco-Scan AI</vt:lpstr>
      <vt:lpstr>Project Objectives</vt:lpstr>
      <vt:lpstr>Problem Statement</vt:lpstr>
      <vt:lpstr>Project Overview - Introduction</vt:lpstr>
      <vt:lpstr>End Users</vt:lpstr>
      <vt:lpstr>Wow Factors in Project</vt:lpstr>
      <vt:lpstr>Modelling/Block Diagram/Flow of Project</vt:lpstr>
      <vt:lpstr>Technology Stack</vt:lpstr>
      <vt:lpstr>Result/Outcomes</vt:lpstr>
      <vt:lpstr>Result/Outcomes</vt:lpstr>
      <vt:lpstr>Conclusion</vt:lpstr>
      <vt:lpstr>Future Perspective</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Dr Moinudeen Syed</dc:creator>
  <cp:lastModifiedBy>Kuldeepkumar Parmar</cp:lastModifiedBy>
  <cp:revision>4</cp:revision>
  <cp:lastPrinted>2026-07-15T18:39:02Z</cp:lastPrinted>
  <dcterms:created xsi:type="dcterms:W3CDTF">2026-07-15T16:32:00Z</dcterms:created>
  <dcterms:modified xsi:type="dcterms:W3CDTF">2026-07-15T18:40:09Z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verter">
    <vt:lpwstr>SolidFramework v10.0.19910.1</vt:lpwstr>
  </property>
  <property fmtid="{D5CDD505-2E9C-101B-9397-08002B2CF9AE}" pid="3" name="Created">
    <vt:filetime>2026-07-14T00:00:00Z</vt:filetime>
  </property>
  <property fmtid="{D5CDD505-2E9C-101B-9397-08002B2CF9AE}" pid="4" name="Creator">
    <vt:lpwstr>Microsoft® PowerPoint® 2021</vt:lpwstr>
  </property>
  <property fmtid="{D5CDD505-2E9C-101B-9397-08002B2CF9AE}" pid="5" name="LastSaved">
    <vt:filetime>2026-07-15T00:00:00Z</vt:filetime>
  </property>
  <property fmtid="{D5CDD505-2E9C-101B-9397-08002B2CF9AE}" pid="6" name="Producer">
    <vt:lpwstr>Microsoft® PowerPoint® 2021</vt:lpwstr>
  </property>
</Properties>
</file>